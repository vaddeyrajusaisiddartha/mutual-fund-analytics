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drawings/drawing1.xml" ContentType="application/vnd.openxmlformats-officedocument.drawingml.chartshapes+xml"/>
  <Override PartName="/ppt/notesSlides/notesSlide11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7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shitha v" userId="ea2ca3ecc49b6eec" providerId="LiveId" clId="{1CDD99E6-EFF4-4072-A75F-C107F2656B96}"/>
    <pc:docChg chg="undo custSel modSld">
      <pc:chgData name="Varshitha v" userId="ea2ca3ecc49b6eec" providerId="LiveId" clId="{1CDD99E6-EFF4-4072-A75F-C107F2656B96}" dt="2026-06-07T06:31:47.023" v="47" actId="14100"/>
      <pc:docMkLst>
        <pc:docMk/>
      </pc:docMkLst>
      <pc:sldChg chg="delSp modSp mod">
        <pc:chgData name="Varshitha v" userId="ea2ca3ecc49b6eec" providerId="LiveId" clId="{1CDD99E6-EFF4-4072-A75F-C107F2656B96}" dt="2026-06-07T06:31:47.023" v="47" actId="14100"/>
        <pc:sldMkLst>
          <pc:docMk/>
          <pc:sldMk cId="0" sldId="256"/>
        </pc:sldMkLst>
        <pc:spChg chg="mod">
          <ac:chgData name="Varshitha v" userId="ea2ca3ecc49b6eec" providerId="LiveId" clId="{1CDD99E6-EFF4-4072-A75F-C107F2656B96}" dt="2026-06-07T06:30:39.334" v="13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Varshitha v" userId="ea2ca3ecc49b6eec" providerId="LiveId" clId="{1CDD99E6-EFF4-4072-A75F-C107F2656B96}" dt="2026-06-07T06:31:37.179" v="44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Varshitha v" userId="ea2ca3ecc49b6eec" providerId="LiveId" clId="{1CDD99E6-EFF4-4072-A75F-C107F2656B96}" dt="2026-06-07T06:31:21.516" v="39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Varshitha v" userId="ea2ca3ecc49b6eec" providerId="LiveId" clId="{1CDD99E6-EFF4-4072-A75F-C107F2656B96}" dt="2026-06-07T06:31:47.023" v="47" actId="14100"/>
          <ac:spMkLst>
            <pc:docMk/>
            <pc:sldMk cId="0" sldId="256"/>
            <ac:spMk id="17" creationId="{00000000-0000-0000-0000-000000000000}"/>
          </ac:spMkLst>
        </pc:spChg>
        <pc:spChg chg="del">
          <ac:chgData name="Varshitha v" userId="ea2ca3ecc49b6eec" providerId="LiveId" clId="{1CDD99E6-EFF4-4072-A75F-C107F2656B96}" dt="2026-06-07T06:30:15.365" v="0" actId="21"/>
          <ac:spMkLst>
            <pc:docMk/>
            <pc:sldMk cId="0" sldId="256"/>
            <ac:spMk id="18" creationId="{00000000-0000-0000-0000-000000000000}"/>
          </ac:spMkLst>
        </pc:spChg>
        <pc:spChg chg="mod">
          <ac:chgData name="Varshitha v" userId="ea2ca3ecc49b6eec" providerId="LiveId" clId="{1CDD99E6-EFF4-4072-A75F-C107F2656B96}" dt="2026-06-07T06:30:23.501" v="7" actId="6549"/>
          <ac:spMkLst>
            <pc:docMk/>
            <pc:sldMk cId="0" sldId="256"/>
            <ac:spMk id="19" creationId="{00000000-0000-0000-0000-000000000000}"/>
          </ac:spMkLst>
        </pc:spChg>
        <pc:spChg chg="mod">
          <ac:chgData name="Varshitha v" userId="ea2ca3ecc49b6eec" providerId="LiveId" clId="{1CDD99E6-EFF4-4072-A75F-C107F2656B96}" dt="2026-06-07T06:30:25.398" v="8" actId="6549"/>
          <ac:spMkLst>
            <pc:docMk/>
            <pc:sldMk cId="0" sldId="256"/>
            <ac:spMk id="20" creationId="{00000000-0000-0000-0000-000000000000}"/>
          </ac:spMkLst>
        </pc:spChg>
        <pc:spChg chg="del mod">
          <ac:chgData name="Varshitha v" userId="ea2ca3ecc49b6eec" providerId="LiveId" clId="{1CDD99E6-EFF4-4072-A75F-C107F2656B96}" dt="2026-06-07T06:30:30.062" v="10" actId="21"/>
          <ac:spMkLst>
            <pc:docMk/>
            <pc:sldMk cId="0" sldId="256"/>
            <ac:spMk id="21" creationId="{00000000-0000-0000-0000-000000000000}"/>
          </ac:spMkLst>
        </pc:spChg>
        <pc:spChg chg="mod">
          <ac:chgData name="Varshitha v" userId="ea2ca3ecc49b6eec" providerId="LiveId" clId="{1CDD99E6-EFF4-4072-A75F-C107F2656B96}" dt="2026-06-07T06:30:50.011" v="15" actId="20577"/>
          <ac:spMkLst>
            <pc:docMk/>
            <pc:sldMk cId="0" sldId="256"/>
            <ac:spMk id="22" creationId="{00000000-0000-0000-0000-000000000000}"/>
          </ac:spMkLst>
        </pc:spChg>
        <pc:spChg chg="mod">
          <ac:chgData name="Varshitha v" userId="ea2ca3ecc49b6eec" providerId="LiveId" clId="{1CDD99E6-EFF4-4072-A75F-C107F2656B96}" dt="2026-06-07T06:30:42.303" v="14" actId="20577"/>
          <ac:spMkLst>
            <pc:docMk/>
            <pc:sldMk cId="0" sldId="256"/>
            <ac:spMk id="23" creationId="{00000000-0000-0000-0000-000000000000}"/>
          </ac:spMkLst>
        </pc:spChg>
        <pc:spChg chg="del">
          <ac:chgData name="Varshitha v" userId="ea2ca3ecc49b6eec" providerId="LiveId" clId="{1CDD99E6-EFF4-4072-A75F-C107F2656B96}" dt="2026-06-07T06:30:32.578" v="11" actId="21"/>
          <ac:spMkLst>
            <pc:docMk/>
            <pc:sldMk cId="0" sldId="256"/>
            <ac:spMk id="24" creationId="{00000000-0000-0000-0000-000000000000}"/>
          </ac:spMkLst>
        </pc:spChg>
        <pc:spChg chg="mod">
          <ac:chgData name="Varshitha v" userId="ea2ca3ecc49b6eec" providerId="LiveId" clId="{1CDD99E6-EFF4-4072-A75F-C107F2656B96}" dt="2026-06-07T06:30:58.086" v="18" actId="20577"/>
          <ac:spMkLst>
            <pc:docMk/>
            <pc:sldMk cId="0" sldId="256"/>
            <ac:spMk id="25" creationId="{00000000-0000-0000-0000-000000000000}"/>
          </ac:spMkLst>
        </pc:spChg>
        <pc:spChg chg="mod">
          <ac:chgData name="Varshitha v" userId="ea2ca3ecc49b6eec" providerId="LiveId" clId="{1CDD99E6-EFF4-4072-A75F-C107F2656B96}" dt="2026-06-07T06:31:00.869" v="19" actId="20577"/>
          <ac:spMkLst>
            <pc:docMk/>
            <pc:sldMk cId="0" sldId="256"/>
            <ac:spMk id="2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Completeness %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  <c:pt idx="4">
                  <c:v>Week 5</c:v>
                </c:pt>
                <c:pt idx="5">
                  <c:v>Week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30</c:v>
                </c:pt>
                <c:pt idx="2">
                  <c:v>55</c:v>
                </c:pt>
                <c:pt idx="3">
                  <c:v>72</c:v>
                </c:pt>
                <c:pt idx="4">
                  <c:v>88</c:v>
                </c:pt>
                <c:pt idx="5">
                  <c:v>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15E-4630-954A-BA47CB2CCB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Industry AUM Growth (₹ Trillion)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 (₹ Trillion)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FY19</c:v>
                </c:pt>
                <c:pt idx="1">
                  <c:v>FY20</c:v>
                </c:pt>
                <c:pt idx="2">
                  <c:v>FY21</c:v>
                </c:pt>
                <c:pt idx="3">
                  <c:v>FY22</c:v>
                </c:pt>
                <c:pt idx="4">
                  <c:v>FY23</c:v>
                </c:pt>
                <c:pt idx="5">
                  <c:v>FY24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23.8</c:v>
                </c:pt>
                <c:pt idx="1">
                  <c:v>22.3</c:v>
                </c:pt>
                <c:pt idx="2">
                  <c:v>31</c:v>
                </c:pt>
                <c:pt idx="3">
                  <c:v>37.6</c:v>
                </c:pt>
                <c:pt idx="4">
                  <c:v>40.5</c:v>
                </c:pt>
                <c:pt idx="5">
                  <c:v>53.4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37-474B-B977-1DADEE5134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Monthly SIP Inflows (₹ Billion)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Inflows (₹ Billion/month)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FY19</c:v>
                </c:pt>
                <c:pt idx="1">
                  <c:v>FY20</c:v>
                </c:pt>
                <c:pt idx="2">
                  <c:v>FY21</c:v>
                </c:pt>
                <c:pt idx="3">
                  <c:v>FY22</c:v>
                </c:pt>
                <c:pt idx="4">
                  <c:v>FY23</c:v>
                </c:pt>
                <c:pt idx="5">
                  <c:v>FY24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</c:v>
                </c:pt>
                <c:pt idx="1">
                  <c:v>82</c:v>
                </c:pt>
                <c:pt idx="2">
                  <c:v>96</c:v>
                </c:pt>
                <c:pt idx="3">
                  <c:v>113</c:v>
                </c:pt>
                <c:pt idx="4">
                  <c:v>143</c:v>
                </c:pt>
                <c:pt idx="5">
                  <c:v>189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92E-4E7E-B448-2FE7E7777E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Sharpe Ratio by Category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 Ratio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90A-4DEE-A765-8D3F1CBF8B57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0A-4DEE-A765-8D3F1CBF8B57}"/>
              </c:ext>
            </c:extLst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90A-4DEE-A765-8D3F1CBF8B5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90A-4DEE-A765-8D3F1CBF8B57}"/>
              </c:ext>
            </c:extLst>
          </c:dPt>
          <c:dPt>
            <c:idx val="4"/>
            <c:invertIfNegative val="0"/>
            <c:bubble3D val="0"/>
            <c:spPr>
              <a:solidFill>
                <a:srgbClr val="99F6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90A-4DEE-A765-8D3F1CBF8B57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90A-4DEE-A765-8D3F1CBF8B5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Large Cap</c:v>
                </c:pt>
                <c:pt idx="1">
                  <c:v>Mid Cap</c:v>
                </c:pt>
                <c:pt idx="2">
                  <c:v>Small Cap</c:v>
                </c:pt>
                <c:pt idx="3">
                  <c:v>Hybrid</c:v>
                </c:pt>
                <c:pt idx="4">
                  <c:v>Debt</c:v>
                </c:pt>
                <c:pt idx="5">
                  <c:v>ELSS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1.42</c:v>
                </c:pt>
                <c:pt idx="1">
                  <c:v>1.18</c:v>
                </c:pt>
                <c:pt idx="2">
                  <c:v>0.95</c:v>
                </c:pt>
                <c:pt idx="3">
                  <c:v>1.26</c:v>
                </c:pt>
                <c:pt idx="4">
                  <c:v>0.78</c:v>
                </c:pt>
                <c:pt idx="5">
                  <c:v>1.35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90A-4DEE-A765-8D3F1CBF8B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Rolling 12M Sharpe Ratio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Rolling Sharpe (12M)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Q1'22</c:v>
                </c:pt>
                <c:pt idx="1">
                  <c:v>Q2'22</c:v>
                </c:pt>
                <c:pt idx="2">
                  <c:v>Q3'22</c:v>
                </c:pt>
                <c:pt idx="3">
                  <c:v>Q4'22</c:v>
                </c:pt>
                <c:pt idx="4">
                  <c:v>Q1'23</c:v>
                </c:pt>
                <c:pt idx="5">
                  <c:v>Q2'23</c:v>
                </c:pt>
                <c:pt idx="6">
                  <c:v>Q3'23</c:v>
                </c:pt>
                <c:pt idx="7">
                  <c:v>Q4'23</c:v>
                </c:pt>
                <c:pt idx="8">
                  <c:v>Q1'24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1.22</c:v>
                </c:pt>
                <c:pt idx="1">
                  <c:v>0.98</c:v>
                </c:pt>
                <c:pt idx="2">
                  <c:v>0.74</c:v>
                </c:pt>
                <c:pt idx="3">
                  <c:v>1.1000000000000001</c:v>
                </c:pt>
                <c:pt idx="4">
                  <c:v>1.28</c:v>
                </c:pt>
                <c:pt idx="5">
                  <c:v>1.45</c:v>
                </c:pt>
                <c:pt idx="6">
                  <c:v>1.31</c:v>
                </c:pt>
                <c:pt idx="7">
                  <c:v>1.52</c:v>
                </c:pt>
                <c:pt idx="8">
                  <c:v>1.38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C8F-44CF-A5F3-84EE13074C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Benchmark</c:v>
                </c:pt>
              </c:strCache>
            </c:strRef>
          </c:tx>
          <c:spPr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Q1'22</c:v>
                </c:pt>
                <c:pt idx="1">
                  <c:v>Q2'22</c:v>
                </c:pt>
                <c:pt idx="2">
                  <c:v>Q3'22</c:v>
                </c:pt>
                <c:pt idx="3">
                  <c:v>Q4'22</c:v>
                </c:pt>
                <c:pt idx="4">
                  <c:v>Q1'23</c:v>
                </c:pt>
                <c:pt idx="5">
                  <c:v>Q2'23</c:v>
                </c:pt>
                <c:pt idx="6">
                  <c:v>Q3'23</c:v>
                </c:pt>
                <c:pt idx="7">
                  <c:v>Q4'23</c:v>
                </c:pt>
                <c:pt idx="8">
                  <c:v>Q1'24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C8F-44CF-A5F3-84EE13074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VaR vs CVaR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 95%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Large Cap</c:v>
                </c:pt>
                <c:pt idx="1">
                  <c:v>Mid Cap</c:v>
                </c:pt>
                <c:pt idx="2">
                  <c:v>Small Cap</c:v>
                </c:pt>
                <c:pt idx="3">
                  <c:v>Hybrid</c:v>
                </c:pt>
                <c:pt idx="4">
                  <c:v>Debt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8.1999999999999993</c:v>
                </c:pt>
                <c:pt idx="1">
                  <c:v>11.4</c:v>
                </c:pt>
                <c:pt idx="2">
                  <c:v>16.8</c:v>
                </c:pt>
                <c:pt idx="3">
                  <c:v>7.9</c:v>
                </c:pt>
                <c:pt idx="4">
                  <c:v>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0A-481F-B000-CAB3E6DB19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CVaR 95%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Large Cap</c:v>
                </c:pt>
                <c:pt idx="1">
                  <c:v>Mid Cap</c:v>
                </c:pt>
                <c:pt idx="2">
                  <c:v>Small Cap</c:v>
                </c:pt>
                <c:pt idx="3">
                  <c:v>Hybrid</c:v>
                </c:pt>
                <c:pt idx="4">
                  <c:v>Debt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10.9</c:v>
                </c:pt>
                <c:pt idx="1">
                  <c:v>14.7</c:v>
                </c:pt>
                <c:pt idx="2">
                  <c:v>22.3</c:v>
                </c:pt>
                <c:pt idx="3">
                  <c:v>10.199999999999999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0A-481F-B000-CAB3E6DB19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AUM by Category (%)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AUM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592-4AD5-88BE-D17AFBCA1B37}"/>
              </c:ext>
            </c:extLst>
          </c:dPt>
          <c:dPt>
            <c:idx val="1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592-4AD5-88BE-D17AFBCA1B37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592-4AD5-88BE-D17AFBCA1B37}"/>
              </c:ext>
            </c:extLst>
          </c:dPt>
          <c:dPt>
            <c:idx val="3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592-4AD5-88BE-D17AFBCA1B37}"/>
              </c:ext>
            </c:extLst>
          </c:dPt>
          <c:dPt>
            <c:idx val="4"/>
            <c:bubble3D val="0"/>
            <c:spPr>
              <a:solidFill>
                <a:srgbClr val="E2E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592-4AD5-88BE-D17AFBCA1B3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592-4AD5-88BE-D17AFBCA1B3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592-4AD5-88BE-D17AFBCA1B3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592-4AD5-88BE-D17AFBCA1B3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592-4AD5-88BE-D17AFBCA1B37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592-4AD5-88BE-D17AFBCA1B3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Equity</c:v>
                </c:pt>
                <c:pt idx="1">
                  <c:v>Debt</c:v>
                </c:pt>
                <c:pt idx="2">
                  <c:v>Hybrid</c:v>
                </c:pt>
                <c:pt idx="3">
                  <c:v>Solution-Oriented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56.2</c:v>
                </c:pt>
                <c:pt idx="1">
                  <c:v>28.1</c:v>
                </c:pt>
                <c:pt idx="2">
                  <c:v>11.4</c:v>
                </c:pt>
                <c:pt idx="3">
                  <c:v>2.6</c:v>
                </c:pt>
                <c:pt idx="4">
                  <c:v>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592-4AD5-88BE-D17AFBCA1B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Monthly SIP Inflows (₹ Billion)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(₹B)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  <c:pt idx="6">
                  <c:v>Jan</c:v>
                </c:pt>
                <c:pt idx="7">
                  <c:v>Feb</c:v>
                </c:pt>
                <c:pt idx="8">
                  <c:v>Mar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155</c:v>
                </c:pt>
                <c:pt idx="1">
                  <c:v>161</c:v>
                </c:pt>
                <c:pt idx="2">
                  <c:v>169</c:v>
                </c:pt>
                <c:pt idx="3">
                  <c:v>175</c:v>
                </c:pt>
                <c:pt idx="4">
                  <c:v>172</c:v>
                </c:pt>
                <c:pt idx="5">
                  <c:v>180</c:v>
                </c:pt>
                <c:pt idx="6">
                  <c:v>184</c:v>
                </c:pt>
                <c:pt idx="7">
                  <c:v>186</c:v>
                </c:pt>
                <c:pt idx="8">
                  <c:v>189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22-4961-A7C8-2575E213F9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Folios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A16-4EA9-B417-A97C7AC5B2E7}"/>
              </c:ext>
            </c:extLst>
          </c:dPt>
          <c:dPt>
            <c:idx val="1"/>
            <c:bubble3D val="0"/>
            <c:spPr>
              <a:solidFill>
                <a:srgbClr val="A78B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A16-4EA9-B417-A97C7AC5B2E7}"/>
              </c:ext>
            </c:extLst>
          </c:dPt>
          <c:dPt>
            <c:idx val="2"/>
            <c:bubble3D val="0"/>
            <c:spPr>
              <a:solidFill>
                <a:srgbClr val="C4B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A16-4EA9-B417-A97C7AC5B2E7}"/>
              </c:ext>
            </c:extLst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A16-4EA9-B417-A97C7AC5B2E7}"/>
              </c:ext>
            </c:extLst>
          </c:dPt>
          <c:dPt>
            <c:idx val="4"/>
            <c:bubble3D val="0"/>
            <c:spPr>
              <a:solidFill>
                <a:srgbClr val="EDE9F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A16-4EA9-B417-A97C7AC5B2E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A16-4EA9-B417-A97C7AC5B2E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A16-4EA9-B417-A97C7AC5B2E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A16-4EA9-B417-A97C7AC5B2E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A16-4EA9-B417-A97C7AC5B2E7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A16-4EA9-B417-A97C7AC5B2E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MH</c:v>
                </c:pt>
                <c:pt idx="1">
                  <c:v>KA</c:v>
                </c:pt>
                <c:pt idx="2">
                  <c:v>DL</c:v>
                </c:pt>
                <c:pt idx="3">
                  <c:v>TN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16</c:v>
                </c:pt>
                <c:pt idx="2">
                  <c:v>14</c:v>
                </c:pt>
                <c:pt idx="3">
                  <c:v>12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A16-4EA9-B417-A97C7AC5B2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Risk-Return Score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Returns</c:v>
                </c:pt>
                <c:pt idx="1">
                  <c:v>Sharpe</c:v>
                </c:pt>
                <c:pt idx="2">
                  <c:v>Diversification</c:v>
                </c:pt>
                <c:pt idx="3">
                  <c:v>Stability</c:v>
                </c:pt>
                <c:pt idx="4">
                  <c:v>Growth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82</c:v>
                </c:pt>
                <c:pt idx="2">
                  <c:v>70</c:v>
                </c:pt>
                <c:pt idx="3">
                  <c:v>75</c:v>
                </c:pt>
                <c:pt idx="4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36-429D-9673-7F5A3939B7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5Y Returns (%)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Large</c:v>
                </c:pt>
                <c:pt idx="1">
                  <c:v>Mid</c:v>
                </c:pt>
                <c:pt idx="2">
                  <c:v>Small</c:v>
                </c:pt>
                <c:pt idx="3">
                  <c:v>Hybrid</c:v>
                </c:pt>
                <c:pt idx="4">
                  <c:v>Debt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14.2</c:v>
                </c:pt>
                <c:pt idx="1">
                  <c:v>18.600000000000001</c:v>
                </c:pt>
                <c:pt idx="2">
                  <c:v>22.1</c:v>
                </c:pt>
                <c:pt idx="3">
                  <c:v>13.8</c:v>
                </c:pt>
                <c:pt idx="4">
                  <c:v>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33-443A-9A60-7A0DAAE69B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F666D801-71CF-391E-25FE-0969BCD4E0AD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0668000" cy="6105525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839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2560320" cy="2560320"/>
          </a:xfrm>
          <a:prstGeom prst="ellipse">
            <a:avLst/>
          </a:prstGeom>
          <a:solidFill>
            <a:srgbClr val="14B8A6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75120" y="3840480"/>
            <a:ext cx="237744" cy="914400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22592" y="3291840"/>
            <a:ext cx="237744" cy="1463040"/>
          </a:xfrm>
          <a:prstGeom prst="rect">
            <a:avLst/>
          </a:prstGeom>
          <a:solidFill>
            <a:srgbClr val="14B8A6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70064" y="3657600"/>
            <a:ext cx="237744" cy="1097280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17536" y="2926080"/>
            <a:ext cx="237744" cy="1828800"/>
          </a:xfrm>
          <a:prstGeom prst="rect">
            <a:avLst/>
          </a:prstGeom>
          <a:solidFill>
            <a:srgbClr val="14B8A6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065008" y="3474720"/>
            <a:ext cx="237744" cy="1280160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0" y="3108960"/>
            <a:ext cx="237744" cy="1645920"/>
          </a:xfrm>
          <a:prstGeom prst="rect">
            <a:avLst/>
          </a:prstGeom>
          <a:solidFill>
            <a:srgbClr val="14B8A6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822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11480" y="15544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Risk Intelligence Dashboard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11480" y="2331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Analytics Project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SQLite  ·  SQL  ·  Power BI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691765" y="3596329"/>
            <a:ext cx="3949958" cy="1128382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69196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Vaddeyraju Sai Siddartha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4012008"/>
            <a:ext cx="6656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· Data Analytics Intern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87752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87752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64024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64024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40296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0296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148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Bluestock  |  Data Analytics 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320040" cy="320040"/>
          </a:xfrm>
          <a:prstGeom prst="ellipse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7099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</a:rPr>
              <a:t>Funds are hard to compare objectively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404872"/>
            <a:ext cx="320040" cy="320040"/>
          </a:xfrm>
          <a:prstGeom prst="ellipse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4048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</a:rPr>
              <a:t>Risk-adjusted returns are poorly understood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118104"/>
            <a:ext cx="320040" cy="320040"/>
          </a:xfrm>
          <a:prstGeom prst="ellipse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118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1363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</a:rPr>
              <a:t>Industry trends go untracked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831336"/>
            <a:ext cx="320040" cy="320040"/>
          </a:xfrm>
          <a:prstGeom prst="ellipse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831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8496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</a:rPr>
              <a:t>Investment decisions lack data backing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457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</a:rPr>
              <a:t>PROJECT GOAL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8229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centralized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platform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0" y="18745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that transforms raw mutual fund data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into actionable investment insights.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2834640"/>
            <a:ext cx="1298448" cy="109728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28803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40M+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0" y="338328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F5"/>
                </a:solidFill>
              </a:rPr>
              <a:t>Folios Tracked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35040" y="2834640"/>
            <a:ext cx="1298448" cy="109728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35040" y="28803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44T+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035040" y="338328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F5"/>
                </a:solidFill>
              </a:rPr>
              <a:t>AUM (INR)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98080" y="2834640"/>
            <a:ext cx="1298448" cy="109728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98080" y="28803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100+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498080" y="338328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F5"/>
                </a:solidFill>
              </a:rPr>
              <a:t>Fund Categories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41148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Industry AUM Growth (₹ Trillion)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4584053"/>
            <a:ext cx="548640" cy="280555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276088" y="4521708"/>
            <a:ext cx="548640" cy="342900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980176" y="4443776"/>
            <a:ext cx="548640" cy="4208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684264" y="4365844"/>
            <a:ext cx="548640" cy="498764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388352" y="4256740"/>
            <a:ext cx="548640" cy="607868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092440" y="4178808"/>
            <a:ext cx="548640" cy="68580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2344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ETL Pipeline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828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Ingest, clean &amp; transform raw mutual fund datasets end-to-end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3444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355848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3192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SQLite Database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828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Structured relational schema optimised for analytical queries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2344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23444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327648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0372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Exploratory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7648" y="1828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Uncover trends in AUM, SIPs, folios &amp; fund categories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6324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6012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Risk &amp; Performance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" y="36576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Compute Sharpe, Sortino, Alpha, Beta, VaR &amp; Max Drawdown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30632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306324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355848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93192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Power BI Dashboard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55848" y="36576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Interactive, drill-through visuals for business intelligence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30632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06324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327648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90372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Investment Insights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27648" y="36576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Data-driven recommendations for fund selection &amp; allocation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</a:rPr>
              <a:t>Every layer purpose-built for financial analytics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011680" cy="329184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0116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Processing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" y="2057400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Python 3.11</a:t>
            </a:r>
          </a:p>
        </p:txBody>
      </p:sp>
      <p:sp>
        <p:nvSpPr>
          <p:cNvPr id="9" name="Shape 7"/>
          <p:cNvSpPr/>
          <p:nvPr/>
        </p:nvSpPr>
        <p:spPr>
          <a:xfrm>
            <a:off x="438912" y="2715768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6700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Pandas</a:t>
            </a:r>
          </a:p>
        </p:txBody>
      </p:sp>
      <p:sp>
        <p:nvSpPr>
          <p:cNvPr id="11" name="Shape 9"/>
          <p:cNvSpPr/>
          <p:nvPr/>
        </p:nvSpPr>
        <p:spPr>
          <a:xfrm>
            <a:off x="438912" y="3374136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32841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NumPy</a:t>
            </a:r>
          </a:p>
        </p:txBody>
      </p:sp>
      <p:sp>
        <p:nvSpPr>
          <p:cNvPr id="13" name="Shape 11"/>
          <p:cNvSpPr/>
          <p:nvPr/>
        </p:nvSpPr>
        <p:spPr>
          <a:xfrm>
            <a:off x="2450592" y="1325880"/>
            <a:ext cx="2221992" cy="34290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4" name="Shape 12"/>
          <p:cNvSpPr/>
          <p:nvPr/>
        </p:nvSpPr>
        <p:spPr>
          <a:xfrm>
            <a:off x="2450592" y="1325880"/>
            <a:ext cx="201168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Database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15184" y="2057400"/>
            <a:ext cx="54864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SQLite</a:t>
            </a:r>
          </a:p>
        </p:txBody>
      </p:sp>
      <p:sp>
        <p:nvSpPr>
          <p:cNvPr id="18" name="Shape 16"/>
          <p:cNvSpPr/>
          <p:nvPr/>
        </p:nvSpPr>
        <p:spPr>
          <a:xfrm>
            <a:off x="2615184" y="2715768"/>
            <a:ext cx="54864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26700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Queries</a:t>
            </a:r>
          </a:p>
        </p:txBody>
      </p:sp>
      <p:sp>
        <p:nvSpPr>
          <p:cNvPr id="20" name="Shape 18"/>
          <p:cNvSpPr/>
          <p:nvPr/>
        </p:nvSpPr>
        <p:spPr>
          <a:xfrm>
            <a:off x="2615184" y="3374136"/>
            <a:ext cx="54864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0" y="332841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Relational</a:t>
            </a:r>
            <a:r>
              <a:rPr lang="en-US" sz="1200" dirty="0">
                <a:solidFill>
                  <a:srgbClr val="FFFFFF"/>
                </a:solidFill>
              </a:rPr>
              <a:t> Schema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26864" y="1325880"/>
            <a:ext cx="2011680" cy="329184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3" name="Shape 21"/>
          <p:cNvSpPr/>
          <p:nvPr/>
        </p:nvSpPr>
        <p:spPr>
          <a:xfrm>
            <a:off x="4626864" y="1325880"/>
            <a:ext cx="201168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626864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Visualization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91456" y="205740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Matplotlib</a:t>
            </a:r>
          </a:p>
        </p:txBody>
      </p:sp>
      <p:sp>
        <p:nvSpPr>
          <p:cNvPr id="27" name="Shape 25"/>
          <p:cNvSpPr/>
          <p:nvPr/>
        </p:nvSpPr>
        <p:spPr>
          <a:xfrm>
            <a:off x="4791456" y="2715768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919472" y="26700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Seaborn</a:t>
            </a:r>
          </a:p>
        </p:txBody>
      </p:sp>
      <p:sp>
        <p:nvSpPr>
          <p:cNvPr id="29" name="Shape 27"/>
          <p:cNvSpPr/>
          <p:nvPr/>
        </p:nvSpPr>
        <p:spPr>
          <a:xfrm>
            <a:off x="4791456" y="3374136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332841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Power</a:t>
            </a:r>
            <a:r>
              <a:rPr lang="en-US" sz="1200" dirty="0">
                <a:solidFill>
                  <a:srgbClr val="FFFFFF"/>
                </a:solidFill>
              </a:rPr>
              <a:t> BI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03136" y="1325880"/>
            <a:ext cx="2011680" cy="329184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2" name="Shape 30"/>
          <p:cNvSpPr/>
          <p:nvPr/>
        </p:nvSpPr>
        <p:spPr>
          <a:xfrm>
            <a:off x="6803136" y="1325880"/>
            <a:ext cx="201168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6803136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Version Control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67728" y="2057400"/>
            <a:ext cx="54864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7095744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Git</a:t>
            </a:r>
          </a:p>
        </p:txBody>
      </p:sp>
      <p:sp>
        <p:nvSpPr>
          <p:cNvPr id="36" name="Shape 34"/>
          <p:cNvSpPr/>
          <p:nvPr/>
        </p:nvSpPr>
        <p:spPr>
          <a:xfrm>
            <a:off x="6967728" y="2715768"/>
            <a:ext cx="54864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7095744" y="26700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GitHub</a:t>
            </a:r>
          </a:p>
        </p:txBody>
      </p:sp>
      <p:sp>
        <p:nvSpPr>
          <p:cNvPr id="38" name="Shape 36"/>
          <p:cNvSpPr/>
          <p:nvPr/>
        </p:nvSpPr>
        <p:spPr>
          <a:xfrm>
            <a:off x="6967728" y="3374136"/>
            <a:ext cx="54864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7095744" y="332841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CI/CD Ready</a:t>
            </a:r>
          </a:p>
        </p:txBody>
      </p:sp>
      <p:sp>
        <p:nvSpPr>
          <p:cNvPr id="40" name="Text 38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4B8A6"/>
                </a:solidFill>
              </a:rPr>
              <a:t>Unified pipeline: Data → Insights →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1143000"/>
            <a:ext cx="1298448" cy="2286000"/>
          </a:xfrm>
          <a:prstGeom prst="rect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0972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" y="169164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Raw Datasets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" y="2395728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CSV &amp; API data ingestion</a:t>
            </a:r>
          </a:p>
        </p:txBody>
      </p:sp>
      <p:sp>
        <p:nvSpPr>
          <p:cNvPr id="9" name="Shape 7"/>
          <p:cNvSpPr/>
          <p:nvPr/>
        </p:nvSpPr>
        <p:spPr>
          <a:xfrm>
            <a:off x="1499616" y="2240280"/>
            <a:ext cx="173736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1691640" y="1143000"/>
            <a:ext cx="1298448" cy="228600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12264" y="1097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112264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91640" y="169164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Data Cleaning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395728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Null handling, normalisation</a:t>
            </a:r>
          </a:p>
        </p:txBody>
      </p:sp>
      <p:sp>
        <p:nvSpPr>
          <p:cNvPr id="15" name="Shape 13"/>
          <p:cNvSpPr/>
          <p:nvPr/>
        </p:nvSpPr>
        <p:spPr>
          <a:xfrm>
            <a:off x="2990088" y="2240280"/>
            <a:ext cx="173736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3182112" y="1143000"/>
            <a:ext cx="1298448" cy="2286000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02736" y="10972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3602736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82112" y="169164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SQLite DB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82112" y="2395728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Structured schema design</a:t>
            </a:r>
          </a:p>
        </p:txBody>
      </p:sp>
      <p:sp>
        <p:nvSpPr>
          <p:cNvPr id="21" name="Shape 19"/>
          <p:cNvSpPr/>
          <p:nvPr/>
        </p:nvSpPr>
        <p:spPr>
          <a:xfrm>
            <a:off x="4480560" y="2240280"/>
            <a:ext cx="173736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Shape 20"/>
          <p:cNvSpPr/>
          <p:nvPr/>
        </p:nvSpPr>
        <p:spPr>
          <a:xfrm>
            <a:off x="4672584" y="1143000"/>
            <a:ext cx="1298448" cy="228600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3" name="Shape 21"/>
          <p:cNvSpPr/>
          <p:nvPr/>
        </p:nvSpPr>
        <p:spPr>
          <a:xfrm>
            <a:off x="5093208" y="10972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093208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72584" y="169164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Analytics &amp; Metrics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72584" y="2395728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Sharpe, Beta, VaR, Drawdown</a:t>
            </a:r>
          </a:p>
        </p:txBody>
      </p:sp>
      <p:sp>
        <p:nvSpPr>
          <p:cNvPr id="27" name="Shape 25"/>
          <p:cNvSpPr/>
          <p:nvPr/>
        </p:nvSpPr>
        <p:spPr>
          <a:xfrm>
            <a:off x="5971032" y="2240280"/>
            <a:ext cx="173736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Shape 26"/>
          <p:cNvSpPr/>
          <p:nvPr/>
        </p:nvSpPr>
        <p:spPr>
          <a:xfrm>
            <a:off x="6163056" y="1143000"/>
            <a:ext cx="1298448" cy="2286000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9" name="Shape 27"/>
          <p:cNvSpPr/>
          <p:nvPr/>
        </p:nvSpPr>
        <p:spPr>
          <a:xfrm>
            <a:off x="6583680" y="109728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63056" y="169164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Power BI Dashboard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63056" y="2395728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Interactive reports &amp; KPIs</a:t>
            </a:r>
          </a:p>
        </p:txBody>
      </p:sp>
      <p:sp>
        <p:nvSpPr>
          <p:cNvPr id="33" name="Shape 31"/>
          <p:cNvSpPr/>
          <p:nvPr/>
        </p:nvSpPr>
        <p:spPr>
          <a:xfrm>
            <a:off x="7461504" y="2240280"/>
            <a:ext cx="173736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4" name="Shape 32"/>
          <p:cNvSpPr/>
          <p:nvPr/>
        </p:nvSpPr>
        <p:spPr>
          <a:xfrm>
            <a:off x="7653528" y="1143000"/>
            <a:ext cx="1298448" cy="2286000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74152" y="109728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6" name="Text 34"/>
          <p:cNvSpPr/>
          <p:nvPr/>
        </p:nvSpPr>
        <p:spPr>
          <a:xfrm>
            <a:off x="807415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653528" y="169164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Business Insights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53528" y="2395728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Recommendations &amp; strategy</a:t>
            </a:r>
          </a:p>
        </p:txBody>
      </p:sp>
      <p:sp>
        <p:nvSpPr>
          <p:cNvPr id="39" name="Shape 37"/>
          <p:cNvSpPr/>
          <p:nvPr/>
        </p:nvSpPr>
        <p:spPr>
          <a:xfrm>
            <a:off x="201168" y="3584448"/>
            <a:ext cx="8741664" cy="7315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Shape 38"/>
          <p:cNvSpPr/>
          <p:nvPr/>
        </p:nvSpPr>
        <p:spPr>
          <a:xfrm>
            <a:off x="740664" y="3493008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1" name="Shape 39"/>
          <p:cNvSpPr/>
          <p:nvPr/>
        </p:nvSpPr>
        <p:spPr>
          <a:xfrm>
            <a:off x="2231136" y="3493008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2" name="Shape 40"/>
          <p:cNvSpPr/>
          <p:nvPr/>
        </p:nvSpPr>
        <p:spPr>
          <a:xfrm>
            <a:off x="3721608" y="3493008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3" name="Shape 41"/>
          <p:cNvSpPr/>
          <p:nvPr/>
        </p:nvSpPr>
        <p:spPr>
          <a:xfrm>
            <a:off x="5212080" y="349300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4" name="Shape 42"/>
          <p:cNvSpPr/>
          <p:nvPr/>
        </p:nvSpPr>
        <p:spPr>
          <a:xfrm>
            <a:off x="6702552" y="3493008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Shape 43"/>
          <p:cNvSpPr/>
          <p:nvPr/>
        </p:nvSpPr>
        <p:spPr>
          <a:xfrm>
            <a:off x="8193024" y="3493008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graphicFrame>
        <p:nvGraphicFramePr>
          <p:cNvPr id="46" name="Chart 0"/>
          <p:cNvGraphicFramePr/>
          <p:nvPr/>
        </p:nvGraphicFramePr>
        <p:xfrm>
          <a:off x="274320" y="3931920"/>
          <a:ext cx="8595360" cy="100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7" name="Text 44"/>
          <p:cNvSpPr/>
          <p:nvPr/>
        </p:nvSpPr>
        <p:spPr>
          <a:xfrm>
            <a:off x="365760" y="4892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Project Progress →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42976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1005840"/>
          <a:ext cx="41148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822192"/>
            <a:ext cx="2743200" cy="64008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274320" y="3840480"/>
            <a:ext cx="2743200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</a:rPr>
              <a:t>✔  AUM grew 124% over 5 years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3200400" y="3822192"/>
            <a:ext cx="2743200" cy="64008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200400" y="3840480"/>
            <a:ext cx="2743200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</a:rPr>
              <a:t>✔  SIP inflows nearly 2.5× since FY19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126480" y="3822192"/>
            <a:ext cx="2743200" cy="64008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126480" y="3840480"/>
            <a:ext cx="2743200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</a:rPr>
              <a:t>✔  Retail investor base expanded sharply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5303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05840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1005840"/>
            <a:ext cx="91440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0" y="10515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1.42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178040" y="1051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Sharpe Ratio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78040" y="13898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Large Cap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52160" y="1920240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1920240"/>
            <a:ext cx="91440" cy="7498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0" y="19659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</a:rPr>
              <a:t>+2.8%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178040" y="1965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Alpha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78040" y="23042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vs Benchmark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852160" y="2834640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52160" y="2834640"/>
            <a:ext cx="91440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0" y="28803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0.87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17804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Beta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178040" y="32186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Low volatility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52160" y="3749040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52160" y="3749040"/>
            <a:ext cx="91440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19"/>
          <p:cNvSpPr/>
          <p:nvPr/>
        </p:nvSpPr>
        <p:spPr>
          <a:xfrm>
            <a:off x="6035040" y="37947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</a:rPr>
              <a:t>-18.4%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178040" y="37947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Max Drawdown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178040" y="41330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Small Cap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74320" y="4096512"/>
            <a:ext cx="8595360" cy="502920"/>
          </a:xfrm>
          <a:prstGeom prst="rect">
            <a:avLst/>
          </a:prstGeom>
          <a:solidFill>
            <a:srgbClr val="0B1F4B">
              <a:alpha val="9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💡  Risk-adjusted performance varied significantly across fund categories — Large Cap led on Sharpe; Small Cap showed highest drawdown risk.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ANALYTICS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53035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669280" y="1005840"/>
          <a:ext cx="32004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767328"/>
            <a:ext cx="8595360" cy="36576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3767328"/>
            <a:ext cx="73152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378561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Small-cap funds: highest downside risk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74320" y="4197096"/>
            <a:ext cx="8595360" cy="36576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274320" y="4197096"/>
            <a:ext cx="73152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42153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CVaR consistently exceeds VaR across all categories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320" y="4626864"/>
            <a:ext cx="8595360" cy="365760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274320" y="4626864"/>
            <a:ext cx="73152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0"/>
          <p:cNvSpPr/>
          <p:nvPr/>
        </p:nvSpPr>
        <p:spPr>
          <a:xfrm>
            <a:off x="457200" y="46451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Risk characteristics evolved notably over 2022–2024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INDUSTRY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24128"/>
            <a:ext cx="2011680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2618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</a:rPr>
              <a:t>₹53.4T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Total AUM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938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</a:rPr>
              <a:t>+31.9% YoY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41448" y="102412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41448" y="1024128"/>
            <a:ext cx="2011680" cy="1645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2441448" y="12618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</a:rPr>
              <a:t>₹189B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41448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SIP Inflows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41448" y="1938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</a:rPr>
              <a:t>+32.2% YoY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54296" y="102412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54296" y="1024128"/>
            <a:ext cx="201168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654296" y="12618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167M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54296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Folio Count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54296" y="1938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</a:rPr>
              <a:t>+18.4% YoY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67144" y="102412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67144" y="1024128"/>
            <a:ext cx="2011680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144" y="12618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</a:rPr>
              <a:t>1,429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67144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Scheme Count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67144" y="1938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</a:rPr>
              <a:t>Active Schemes</a:t>
            </a:r>
            <a:endParaRPr lang="en-US" sz="9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228600" y="2395728"/>
          <a:ext cx="36576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5" name="Chart 1"/>
          <p:cNvGraphicFramePr/>
          <p:nvPr/>
        </p:nvGraphicFramePr>
        <p:xfrm>
          <a:off x="4114800" y="2395728"/>
          <a:ext cx="475488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ANALYTICS PAGES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548640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🛡  Risk Analytics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773936"/>
            <a:ext cx="365760" cy="832104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86968" y="1517904"/>
            <a:ext cx="365760" cy="1088136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62456" y="2029968"/>
            <a:ext cx="365760" cy="576072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37944" y="1684325"/>
            <a:ext cx="365760" cy="921715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313432" y="1863547"/>
            <a:ext cx="365760" cy="742493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VaR, CVaR, Beta, Drawdown by category &amp; time period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09728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97280"/>
            <a:ext cx="2743200" cy="54864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📊  Fund Analysis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24612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Returns comparison, peer ranking &amp; alpha generation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217920" y="109728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17920" y="1097280"/>
            <a:ext cx="2743200" cy="548640"/>
          </a:xfrm>
          <a:prstGeom prst="rect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621792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👥  Investor Analytics</a:t>
            </a:r>
            <a:endParaRPr lang="en-US" sz="1300" dirty="0"/>
          </a:p>
        </p:txBody>
      </p:sp>
      <p:graphicFrame>
        <p:nvGraphicFramePr>
          <p:cNvPr id="21" name="Chart 1"/>
          <p:cNvGraphicFramePr/>
          <p:nvPr>
            <p:extLst>
              <p:ext uri="{D42A27DB-BD31-4B8C-83A1-F6EECF244321}">
                <p14:modId xmlns:p14="http://schemas.microsoft.com/office/powerpoint/2010/main" val="3057482443"/>
              </p:ext>
            </p:extLst>
          </p:nvPr>
        </p:nvGraphicFramePr>
        <p:xfrm>
          <a:off x="6217920" y="1517905"/>
          <a:ext cx="2743200" cy="1819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8"/>
          <p:cNvSpPr/>
          <p:nvPr/>
        </p:nvSpPr>
        <p:spPr>
          <a:xfrm>
            <a:off x="621792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State-wise folio distribution &amp; SIP penetration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274320" y="4069080"/>
            <a:ext cx="2011680" cy="502920"/>
          </a:xfrm>
          <a:prstGeom prst="rect">
            <a:avLst/>
          </a:prstGeom>
          <a:solidFill>
            <a:srgbClr val="0B1F4B">
              <a:alpha val="90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274320" y="40873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</a:rPr>
              <a:t>✔  Interactive Filters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450592" y="4069080"/>
            <a:ext cx="2011680" cy="502920"/>
          </a:xfrm>
          <a:prstGeom prst="rect">
            <a:avLst/>
          </a:prstGeom>
          <a:solidFill>
            <a:srgbClr val="0B1F4B">
              <a:alpha val="9000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2450592" y="40873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</a:rPr>
              <a:t>✔  Drill-Through Nav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626864" y="4069080"/>
            <a:ext cx="2011680" cy="502920"/>
          </a:xfrm>
          <a:prstGeom prst="rect">
            <a:avLst/>
          </a:prstGeom>
          <a:solidFill>
            <a:srgbClr val="0B1F4B">
              <a:alpha val="90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4626864" y="40873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</a:rPr>
              <a:t>✔  Dynamic Slicers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803136" y="4069080"/>
            <a:ext cx="2011680" cy="502920"/>
          </a:xfrm>
          <a:prstGeom prst="rect">
            <a:avLst/>
          </a:prstGeom>
          <a:solidFill>
            <a:srgbClr val="0B1F4B">
              <a:alpha val="90000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6803136" y="40873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</a:rPr>
              <a:t>✔  Mobile-Friendly</a:t>
            </a:r>
            <a:endParaRPr lang="en-US" sz="10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5457255-91FF-DA7D-2E36-70C450DCA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511243"/>
            <a:ext cx="2743200" cy="185779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90D02AF-CFF1-6DAD-D119-4CCEF2A0CD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1511243"/>
            <a:ext cx="2743200" cy="18263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24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15544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SIP inflows on a consistent upward trend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231136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22128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Equity funds dominate with 56% AUM share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889504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3232" y="287121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Risk-adjusted returns differ widely by scheme type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547872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3232" y="352958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Investor activity concentrated in 5 major states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005840"/>
            <a:ext cx="402336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024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RECOMMENDATIONS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2040" y="1572768"/>
            <a:ext cx="2743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85232" y="15544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Prioritise risk-adjusted metrics (Sharpe, Sortino) over raw returns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2231136"/>
            <a:ext cx="2743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85232" y="221284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Maintain diversification across equity, debt &amp; hybrid categories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2889504"/>
            <a:ext cx="2743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85232" y="287121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Continue SIP investments for long-term compounding wealth</a:t>
            </a:r>
            <a:endParaRPr lang="en-US" sz="1100" dirty="0"/>
          </a:p>
        </p:txBody>
      </p:sp>
      <p:graphicFrame>
        <p:nvGraphicFramePr>
          <p:cNvPr id="29" name="Chart 0"/>
          <p:cNvGraphicFramePr/>
          <p:nvPr>
            <p:extLst>
              <p:ext uri="{D42A27DB-BD31-4B8C-83A1-F6EECF244321}">
                <p14:modId xmlns:p14="http://schemas.microsoft.com/office/powerpoint/2010/main" val="3966479684"/>
              </p:ext>
            </p:extLst>
          </p:nvPr>
        </p:nvGraphicFramePr>
        <p:xfrm>
          <a:off x="274320" y="3822192"/>
          <a:ext cx="4023360" cy="1161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" name="Chart 1"/>
          <p:cNvGraphicFramePr/>
          <p:nvPr>
            <p:extLst>
              <p:ext uri="{D42A27DB-BD31-4B8C-83A1-F6EECF244321}">
                <p14:modId xmlns:p14="http://schemas.microsoft.com/office/powerpoint/2010/main" val="1892098783"/>
              </p:ext>
            </p:extLst>
          </p:nvPr>
        </p:nvGraphicFramePr>
        <p:xfrm>
          <a:off x="4846320" y="3657600"/>
          <a:ext cx="4023360" cy="132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D9488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Mutual Fund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Platform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1920240" cy="123444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128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 Engineering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0" y="2148840"/>
            <a:ext cx="1920240" cy="123444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22128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60320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Financial Analytics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148840"/>
            <a:ext cx="1920240" cy="123444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2128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Risk Management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66560" y="2148840"/>
            <a:ext cx="1920240" cy="123444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2128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66560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Business Intelligence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B8A6"/>
                </a:solidFill>
              </a:rPr>
              <a:t>Questions &amp; Discussion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86000" y="4462272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</a:rPr>
              <a:t>github.com/VaddeyrajuSaisiddartha/mutual-fund-analytics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4663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Presented By: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7471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</a:rPr>
              <a:t>Vaddeyraju Sai Siddartha  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605</Words>
  <Application>Microsoft Office PowerPoint</Application>
  <PresentationFormat>On-screen Show (16:9)</PresentationFormat>
  <Paragraphs>195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&amp; Risk Intelligence Dashboard</dc:title>
  <dc:subject>PptxGenJS Presentation</dc:subject>
  <dc:creator>Mutual Fund Analytics Team</dc:creator>
  <cp:lastModifiedBy>Varshitha v</cp:lastModifiedBy>
  <cp:revision>4</cp:revision>
  <dcterms:created xsi:type="dcterms:W3CDTF">2026-06-06T19:40:06Z</dcterms:created>
  <dcterms:modified xsi:type="dcterms:W3CDTF">2026-06-07T06:31:47Z</dcterms:modified>
</cp:coreProperties>
</file>