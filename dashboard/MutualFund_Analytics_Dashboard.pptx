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(₹L Cr)</c:v>
                </c:pt>
              </c:strCache>
            </c:strRef>
          </c:tx>
          <c:spPr>
            <a:solidFill>
              <a:srgbClr val="0E8C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3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SBI</c:v>
                  </c:pt>
                  <c:pt idx="1">
                    <c:v>ICICI</c:v>
                  </c:pt>
                  <c:pt idx="2">
                    <c:v>HDFC</c:v>
                  </c:pt>
                  <c:pt idx="3">
                    <c:v>Nippon</c:v>
                  </c:pt>
                  <c:pt idx="4">
                    <c:v>Kotak</c:v>
                  </c:pt>
                  <c:pt idx="5">
                    <c:v>ABSL</c:v>
                  </c:pt>
                  <c:pt idx="6">
                    <c:v>Axis</c:v>
                  </c:pt>
                  <c:pt idx="7">
                    <c:v>UTI</c:v>
                  </c:pt>
                  <c:pt idx="8">
                    <c:v>Mirae</c:v>
                  </c:pt>
                  <c:pt idx="9">
                    <c:v>DSP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12.5</c:v>
                </c:pt>
                <c:pt idx="1">
                  <c:v>8.1</c:v>
                </c:pt>
                <c:pt idx="2">
                  <c:v>7.2</c:v>
                </c:pt>
                <c:pt idx="3">
                  <c:v>4.8</c:v>
                </c:pt>
                <c:pt idx="4">
                  <c:v>4.2</c:v>
                </c:pt>
                <c:pt idx="5">
                  <c:v>3.5</c:v>
                </c:pt>
                <c:pt idx="6">
                  <c:v>3.1</c:v>
                </c:pt>
                <c:pt idx="7">
                  <c:v>2.9</c:v>
                </c:pt>
                <c:pt idx="8">
                  <c:v>2.4</c:v>
                </c:pt>
                <c:pt idx="9">
                  <c:v>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Inflow</c:v>
                </c:pt>
              </c:strCache>
            </c:strRef>
          </c:tx>
          <c:spPr>
            <a:solidFill>
              <a:srgbClr val="0E8C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4F4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Small Cap</c:v>
                  </c:pt>
                  <c:pt idx="1">
                    <c:v>Mid Cap</c:v>
                  </c:pt>
                  <c:pt idx="2">
                    <c:v>Large Cap</c:v>
                  </c:pt>
                  <c:pt idx="3">
                    <c:v>ELSS</c:v>
                  </c:pt>
                  <c:pt idx="4">
                    <c:v>Gilt</c:v>
                  </c:pt>
                  <c:pt idx="5">
                    <c:v>Liquid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28400</c:v>
                </c:pt>
                <c:pt idx="1">
                  <c:v>22100</c:v>
                </c:pt>
                <c:pt idx="2">
                  <c:v>15600</c:v>
                </c:pt>
                <c:pt idx="3">
                  <c:v>8200</c:v>
                </c:pt>
                <c:pt idx="4">
                  <c:v>1200</c:v>
                </c:pt>
                <c:pt idx="5">
                  <c:v>-4100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</c:v>
                </c:pt>
              </c:strCache>
            </c:strRef>
          </c:tx>
          <c:spPr>
            <a:solidFill>
              <a:srgbClr val="0E8C6A"/>
            </a:solidFill>
            <a:ln w="31750" cap="flat">
              <a:solidFill>
                <a:srgbClr val="0E8C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8C6A"/>
              </a:solidFill>
              <a:ln w="9525" cap="flat">
                <a:solidFill>
                  <a:srgbClr val="0E8C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 22</c:v>
                  </c:pt>
                  <c:pt idx="1">
                    <c:v>Jul 22</c:v>
                  </c:pt>
                  <c:pt idx="2">
                    <c:v>Jan 23</c:v>
                  </c:pt>
                  <c:pt idx="3">
                    <c:v>Jul 23</c:v>
                  </c:pt>
                  <c:pt idx="4">
                    <c:v>Jan 24</c:v>
                  </c:pt>
                  <c:pt idx="5">
                    <c:v>Jul 24</c:v>
                  </c:pt>
                  <c:pt idx="6">
                    <c:v>Jan 25</c:v>
                  </c:pt>
                  <c:pt idx="7">
                    <c:v>Dec 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11002</c:v>
                </c:pt>
                <c:pt idx="1">
                  <c:v>13450</c:v>
                </c:pt>
                <c:pt idx="2">
                  <c:v>14800</c:v>
                </c:pt>
                <c:pt idx="3">
                  <c:v>17200</c:v>
                </c:pt>
                <c:pt idx="4">
                  <c:v>19800</c:v>
                </c:pt>
                <c:pt idx="5">
                  <c:v>22400</c:v>
                </c:pt>
                <c:pt idx="6">
                  <c:v>25100</c:v>
                </c:pt>
                <c:pt idx="7">
                  <c:v>31002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Folios (Cr)</c:v>
                </c:pt>
              </c:strCache>
            </c:strRef>
          </c:tx>
          <c:spPr>
            <a:solidFill>
              <a:srgbClr val="1A73C8"/>
            </a:solidFill>
            <a:ln w="31750" cap="flat">
              <a:solidFill>
                <a:srgbClr val="1A73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3C8"/>
              </a:solidFill>
              <a:ln w="9525" cap="flat">
                <a:solidFill>
                  <a:srgbClr val="1A73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22</c:v>
                  </c:pt>
                  <c:pt idx="1">
                    <c:v>Q3 22</c:v>
                  </c:pt>
                  <c:pt idx="2">
                    <c:v>Q1 23</c:v>
                  </c:pt>
                  <c:pt idx="3">
                    <c:v>Q3 23</c:v>
                  </c:pt>
                  <c:pt idx="4">
                    <c:v>Q1 24</c:v>
                  </c:pt>
                  <c:pt idx="5">
                    <c:v>Q3 24</c:v>
                  </c:pt>
                  <c:pt idx="6">
                    <c:v>Q1 25</c:v>
                  </c:pt>
                  <c:pt idx="7">
                    <c:v>Q4 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13.26</c:v>
                </c:pt>
                <c:pt idx="1">
                  <c:v>14.8</c:v>
                </c:pt>
                <c:pt idx="2">
                  <c:v>16.4</c:v>
                </c:pt>
                <c:pt idx="3">
                  <c:v>18.1</c:v>
                </c:pt>
                <c:pt idx="4">
                  <c:v>19.7</c:v>
                </c:pt>
                <c:pt idx="5">
                  <c:v>21.2</c:v>
                </c:pt>
                <c:pt idx="6">
                  <c:v>22.8</c:v>
                </c:pt>
                <c:pt idx="7">
                  <c:v>26.12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solidFill>
              <a:srgbClr val="0E8C6A"/>
            </a:solidFill>
            <a:ln w="25400" cap="flat">
              <a:solidFill>
                <a:srgbClr val="0E8C6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8C6A"/>
              </a:solidFill>
              <a:ln w="9525" cap="flat">
                <a:solidFill>
                  <a:srgbClr val="0E8C6A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1.42</c:v>
                </c:pt>
                <c:pt idx="1">
                  <c:v>1.38</c:v>
                </c:pt>
                <c:pt idx="2">
                  <c:v>1.35</c:v>
                </c:pt>
                <c:pt idx="3">
                  <c:v>1.31</c:v>
                </c:pt>
                <c:pt idx="4">
                  <c:v>1.29</c:v>
                </c:pt>
                <c:pt idx="5">
                  <c:v>1.28</c:v>
                </c:pt>
                <c:pt idx="6">
                  <c:v>1.22</c:v>
                </c:pt>
                <c:pt idx="7">
                  <c:v>1.19</c:v>
                </c:pt>
                <c:pt idx="8">
                  <c:v>1.12</c:v>
                </c:pt>
                <c:pt idx="9">
                  <c:v>1.08</c:v>
                </c:pt>
                <c:pt idx="10">
                  <c:v>1.04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1.81</c:v>
                </c:pt>
                <c:pt idx="1">
                  <c:v>1.72</c:v>
                </c:pt>
                <c:pt idx="2">
                  <c:v>1.67</c:v>
                </c:pt>
                <c:pt idx="3">
                  <c:v>1.59</c:v>
                </c:pt>
                <c:pt idx="4">
                  <c:v>1.61</c:v>
                </c:pt>
                <c:pt idx="5">
                  <c:v>1.54</c:v>
                </c:pt>
                <c:pt idx="6">
                  <c:v>1.44</c:v>
                </c:pt>
                <c:pt idx="7">
                  <c:v>1.44</c:v>
                </c:pt>
                <c:pt idx="8">
                  <c:v>1.38</c:v>
                </c:pt>
                <c:pt idx="9">
                  <c:v>1.31</c:v>
                </c:pt>
                <c:pt idx="10">
                  <c:v>1.22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Sharpe Ratio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Sortino Ratio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DD (%)</c:v>
                </c:pt>
              </c:strCache>
            </c:strRef>
          </c:tx>
          <c:spPr>
            <a:solidFill>
              <a:srgbClr val="D94F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Nippon SC</c:v>
                  </c:pt>
                  <c:pt idx="1">
                    <c:v>Kotak SC</c:v>
                  </c:pt>
                  <c:pt idx="2">
                    <c:v>DSP SC</c:v>
                  </c:pt>
                  <c:pt idx="3">
                    <c:v>HDFC MC</c:v>
                  </c:pt>
                  <c:pt idx="4">
                    <c:v>ICICI MC</c:v>
                  </c:pt>
                  <c:pt idx="5">
                    <c:v>SBI BC</c:v>
                  </c:pt>
                  <c:pt idx="6">
                    <c:v>ABSL FL</c:v>
                  </c:pt>
                  <c:pt idx="7">
                    <c:v>Axis ELSS</c:v>
                  </c:pt>
                  <c:pt idx="8">
                    <c:v>Mirae LC</c:v>
                  </c:pt>
                  <c:pt idx="9">
                    <c:v>UTI Nifty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-18.4</c:v>
                </c:pt>
                <c:pt idx="1">
                  <c:v>-19.6</c:v>
                </c:pt>
                <c:pt idx="2">
                  <c:v>-20.8</c:v>
                </c:pt>
                <c:pt idx="3">
                  <c:v>-16.8</c:v>
                </c:pt>
                <c:pt idx="4">
                  <c:v>-17.2</c:v>
                </c:pt>
                <c:pt idx="5">
                  <c:v>-12.9</c:v>
                </c:pt>
                <c:pt idx="6">
                  <c:v>-13.6</c:v>
                </c:pt>
                <c:pt idx="7">
                  <c:v>-14.6</c:v>
                </c:pt>
                <c:pt idx="8">
                  <c:v>-14.1</c:v>
                </c:pt>
                <c:pt idx="9">
                  <c:v>-11.8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Mid Cap avg</c:v>
                </c:pt>
              </c:strCache>
            </c:strRef>
          </c:tx>
          <c:spPr>
            <a:solidFill>
              <a:srgbClr val="0E8C6A"/>
            </a:solidFill>
            <a:ln w="25400" cap="flat">
              <a:solidFill>
                <a:srgbClr val="0E8C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8C6A"/>
              </a:solidFill>
              <a:ln w="9525" cap="flat">
                <a:solidFill>
                  <a:srgbClr val="0E8C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18.4</c:v>
                </c:pt>
                <c:pt idx="1">
                  <c:v>28.2</c:v>
                </c:pt>
                <c:pt idx="2">
                  <c:v>34.1</c:v>
                </c:pt>
                <c:pt idx="3">
                  <c:v>29.7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 Cap avg</c:v>
                </c:pt>
              </c:strCache>
            </c:strRef>
          </c:tx>
          <c:spPr>
            <a:solidFill>
              <a:srgbClr val="1A73C8"/>
            </a:solidFill>
            <a:ln w="25400" cap="flat">
              <a:solidFill>
                <a:srgbClr val="1A73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3C8"/>
              </a:solidFill>
              <a:ln w="9525" cap="flat">
                <a:solidFill>
                  <a:srgbClr val="1A73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12.1</c:v>
                </c:pt>
                <c:pt idx="1">
                  <c:v>18.6</c:v>
                </c:pt>
                <c:pt idx="2">
                  <c:v>21.4</c:v>
                </c:pt>
                <c:pt idx="3">
                  <c:v>18.6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Nifty 50</c:v>
                </c:pt>
              </c:strCache>
            </c:strRef>
          </c:tx>
          <c:spPr>
            <a:solidFill>
              <a:srgbClr val="D94F4F"/>
            </a:solidFill>
            <a:ln w="25400" cap="flat">
              <a:solidFill>
                <a:srgbClr val="D94F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4F4F"/>
              </a:solidFill>
              <a:ln w="9525" cap="flat">
                <a:solidFill>
                  <a:srgbClr val="D94F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4.3</c:v>
                </c:pt>
                <c:pt idx="1">
                  <c:v>15.1</c:v>
                </c:pt>
                <c:pt idx="2">
                  <c:v>19.2</c:v>
                </c:pt>
                <c:pt idx="3">
                  <c:v>16.2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Nifty 100</c:v>
                </c:pt>
              </c:strCache>
            </c:strRef>
          </c:tx>
          <c:spPr>
            <a:solidFill>
              <a:srgbClr val="E9A72F"/>
            </a:solidFill>
            <a:ln w="25400" cap="flat">
              <a:solidFill>
                <a:srgbClr val="E9A7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A72F"/>
              </a:solidFill>
              <a:ln w="9525" cap="flat">
                <a:solidFill>
                  <a:srgbClr val="E9A7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5.1</c:v>
                </c:pt>
                <c:pt idx="1">
                  <c:v>14.8</c:v>
                </c:pt>
                <c:pt idx="2">
                  <c:v>18.6</c:v>
                </c:pt>
                <c:pt idx="3">
                  <c:v>15.8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B9DC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 (%)</c:v>
                </c:pt>
              </c:strCache>
            </c:strRef>
          </c:tx>
          <c:spPr>
            <a:solidFill>
              <a:srgbClr val="0E8C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CBD5E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Nippon SC</c:v>
                  </c:pt>
                  <c:pt idx="1">
                    <c:v>Kotak SC</c:v>
                  </c:pt>
                  <c:pt idx="2">
                    <c:v>HDFC MC</c:v>
                  </c:pt>
                  <c:pt idx="3">
                    <c:v>DSP SC</c:v>
                  </c:pt>
                  <c:pt idx="4">
                    <c:v>Mirae MC</c:v>
                  </c:pt>
                  <c:pt idx="5">
                    <c:v>ICICI MC</c:v>
                  </c:pt>
                  <c:pt idx="6">
                    <c:v>Axis MC</c:v>
                  </c:pt>
                  <c:pt idx="7">
                    <c:v>ABSL FL</c:v>
                  </c:pt>
                  <c:pt idx="8">
                    <c:v>SBI BC</c:v>
                  </c:pt>
                  <c:pt idx="9">
                    <c:v>UTI Nifty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6.2</c:v>
                </c:pt>
                <c:pt idx="1">
                  <c:v>5.8</c:v>
                </c:pt>
                <c:pt idx="2">
                  <c:v>5.1</c:v>
                </c:pt>
                <c:pt idx="3">
                  <c:v>4.9</c:v>
                </c:pt>
                <c:pt idx="4">
                  <c:v>4.7</c:v>
                </c:pt>
                <c:pt idx="5">
                  <c:v>4.6</c:v>
                </c:pt>
                <c:pt idx="6">
                  <c:v>4.2</c:v>
                </c:pt>
                <c:pt idx="7">
                  <c:v>2.8</c:v>
                </c:pt>
                <c:pt idx="8">
                  <c:v>2.4</c:v>
                </c:pt>
                <c:pt idx="9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CBD5E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Investors (%)</c:v>
                </c:pt>
              </c:strCache>
            </c:strRef>
          </c:tx>
          <c:spPr>
            <a:solidFill>
              <a:srgbClr val="5BA4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BD5E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A4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3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A72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A4E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&lt;25</c:v>
                  </c:pt>
                  <c:pt idx="1">
                    <c:v>25–34</c:v>
                  </c:pt>
                  <c:pt idx="2">
                    <c:v>35–44</c:v>
                  </c:pt>
                  <c:pt idx="3">
                    <c:v>45–60</c:v>
                  </c:pt>
                  <c:pt idx="4">
                    <c:v>60+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34</c:v>
                </c:pt>
                <c:pt idx="2">
                  <c:v>28</c:v>
                </c:pt>
                <c:pt idx="3">
                  <c:v>22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CBD5E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8C6A"/>
              </a:solidFill>
              <a:effectLst/>
            </c:spPr>
          </c:dPt>
          <c:dPt>
            <c:idx val="1"/>
            <c:bubble3D val="0"/>
            <c:spPr>
              <a:solidFill>
                <a:srgbClr val="1A73C8"/>
              </a:solidFill>
              <a:effectLst/>
            </c:spPr>
          </c:dPt>
          <c:dPt>
            <c:idx val="2"/>
            <c:bubble3D val="0"/>
            <c:spPr>
              <a:solidFill>
                <a:srgbClr val="D94F4F"/>
              </a:solidFill>
              <a:effectLst/>
            </c:spPr>
          </c:dPt>
          <c:dPt>
            <c:idx val="3"/>
            <c:bubble3D val="0"/>
            <c:spPr>
              <a:solidFill>
                <a:srgbClr val="E9A72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SIP</c:v>
                </c:pt>
                <c:pt idx="1">
                  <c:v>Lumpsum</c:v>
                </c:pt>
                <c:pt idx="2">
                  <c:v>Redemption</c:v>
                </c:pt>
                <c:pt idx="3">
                  <c:v>SWP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68</c:v>
                </c:pt>
                <c:pt idx="1">
                  <c:v>22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8B9DC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(%)</c:v>
                </c:pt>
              </c:strCache>
            </c:strRef>
          </c:tx>
          <c:spPr>
            <a:solidFill>
              <a:srgbClr val="0E8C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CBD5E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C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3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A4E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Tier 1 Cities</c:v>
                  </c:pt>
                  <c:pt idx="1">
                    <c:v>Tier 2 Cities</c:v>
                  </c:pt>
                  <c:pt idx="2">
                    <c:v>Tier 3 Cities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</c:v>
                </c:pt>
                <c:pt idx="1">
                  <c:v>32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CBD5E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1A73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₹5–12L</c:v>
                  </c:pt>
                  <c:pt idx="1">
                    <c:v>₹12–25L</c:v>
                  </c:pt>
                  <c:pt idx="2">
                    <c:v>₹25L+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24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 Risk</c:v>
                </c:pt>
              </c:strCache>
            </c:strRef>
          </c:tx>
          <c:spPr>
            <a:solidFill>
              <a:srgbClr val="E9A7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₹5–12L</c:v>
                  </c:pt>
                  <c:pt idx="1">
                    <c:v>₹12–25L</c:v>
                  </c:pt>
                  <c:pt idx="2">
                    <c:v>₹25L+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42</c:v>
                </c:pt>
                <c:pt idx="2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0E8C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₹5–12L</c:v>
                  </c:pt>
                  <c:pt idx="1">
                    <c:v>₹12–25L</c:v>
                  </c:pt>
                  <c:pt idx="2">
                    <c:v>₹25L+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16</c:v>
                </c:pt>
                <c:pt idx="1">
                  <c:v>34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B9DC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(%)</c:v>
                </c:pt>
              </c:strCache>
            </c:strRef>
          </c:tx>
          <c:spPr>
            <a:solidFill>
              <a:srgbClr val="1A73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BD5E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HDFC Bank</c:v>
                  </c:pt>
                  <c:pt idx="1">
                    <c:v>Reliance</c:v>
                  </c:pt>
                  <c:pt idx="2">
                    <c:v>Infosys</c:v>
                  </c:pt>
                  <c:pt idx="3">
                    <c:v>ICICI Bank</c:v>
                  </c:pt>
                  <c:pt idx="4">
                    <c:v>TCS</c:v>
                  </c:pt>
                  <c:pt idx="5">
                    <c:v>Axis Bank</c:v>
                  </c:pt>
                  <c:pt idx="6">
                    <c:v>Bharti Airtel</c:v>
                  </c:pt>
                  <c:pt idx="7">
                    <c:v>L&amp;T</c:v>
                  </c:pt>
                  <c:pt idx="8">
                    <c:v>SBI</c:v>
                  </c:pt>
                  <c:pt idx="9">
                    <c:v>Wipro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8.4</c:v>
                </c:pt>
                <c:pt idx="1">
                  <c:v>7.2</c:v>
                </c:pt>
                <c:pt idx="2">
                  <c:v>6.8</c:v>
                </c:pt>
                <c:pt idx="3">
                  <c:v>6.1</c:v>
                </c:pt>
                <c:pt idx="4">
                  <c:v>5.6</c:v>
                </c:pt>
                <c:pt idx="5">
                  <c:v>4.8</c:v>
                </c:pt>
                <c:pt idx="6">
                  <c:v>4.2</c:v>
                </c:pt>
                <c:pt idx="7">
                  <c:v>3.9</c:v>
                </c:pt>
                <c:pt idx="8">
                  <c:v>3.4</c:v>
                </c:pt>
                <c:pt idx="9">
                  <c:v>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CBD5E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F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Sector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8C6A"/>
              </a:solidFill>
              <a:effectLst/>
            </c:spPr>
          </c:dPt>
          <c:dPt>
            <c:idx val="1"/>
            <c:bubble3D val="0"/>
            <c:spPr>
              <a:solidFill>
                <a:srgbClr val="1A73C8"/>
              </a:solidFill>
              <a:effectLst/>
            </c:spPr>
          </c:dPt>
          <c:dPt>
            <c:idx val="2"/>
            <c:bubble3D val="0"/>
            <c:spPr>
              <a:solidFill>
                <a:srgbClr val="E9A72F"/>
              </a:solidFill>
              <a:effectLst/>
            </c:spPr>
          </c:dPt>
          <c:dPt>
            <c:idx val="3"/>
            <c:bubble3D val="0"/>
            <c:spPr>
              <a:solidFill>
                <a:srgbClr val="D94F4F"/>
              </a:solidFill>
              <a:effectLst/>
            </c:spPr>
          </c:dPt>
          <c:dPt>
            <c:idx val="4"/>
            <c:bubble3D val="0"/>
            <c:spPr>
              <a:solidFill>
                <a:srgbClr val="5BA4E0"/>
              </a:solidFill>
              <a:effectLst/>
            </c:spPr>
          </c:dPt>
          <c:dPt>
            <c:idx val="5"/>
            <c:bubble3D val="0"/>
            <c:spPr>
              <a:solidFill>
                <a:srgbClr val="8E44AD"/>
              </a:solidFill>
              <a:effectLst/>
            </c:spPr>
          </c:dPt>
          <c:dPt>
            <c:idx val="6"/>
            <c:bubble3D val="0"/>
            <c:spPr>
              <a:solidFill>
                <a:srgbClr val="2ECC71"/>
              </a:solidFill>
              <a:effectLst/>
            </c:spPr>
          </c:dPt>
          <c:dPt>
            <c:idx val="7"/>
            <c:bubble3D val="0"/>
            <c:spPr>
              <a:solidFill>
                <a:srgbClr val="E67E22"/>
              </a:solidFill>
              <a:effectLst/>
            </c:spPr>
          </c:dPt>
          <c:dPt>
            <c:idx val="8"/>
            <c:bubble3D val="0"/>
            <c:spPr>
              <a:solidFill>
                <a:srgbClr val="1ABC9C"/>
              </a:solidFill>
              <a:effectLst/>
            </c:spPr>
          </c:dPt>
          <c:dPt>
            <c:idx val="9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Financials</c:v>
                </c:pt>
                <c:pt idx="1">
                  <c:v>IT</c:v>
                </c:pt>
                <c:pt idx="2">
                  <c:v>Consumer</c:v>
                </c:pt>
                <c:pt idx="3">
                  <c:v>Energy</c:v>
                </c:pt>
                <c:pt idx="4">
                  <c:v>Healthcare</c:v>
                </c:pt>
                <c:pt idx="5">
                  <c:v>Auto</c:v>
                </c:pt>
                <c:pt idx="6">
                  <c:v>Metals</c:v>
                </c:pt>
                <c:pt idx="7">
                  <c:v>Infra</c:v>
                </c:pt>
                <c:pt idx="8">
                  <c:v>Telecom</c:v>
                </c:pt>
                <c:pt idx="9">
                  <c:v>Others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24.2</c:v>
                </c:pt>
                <c:pt idx="1">
                  <c:v>16.8</c:v>
                </c:pt>
                <c:pt idx="2">
                  <c:v>12.4</c:v>
                </c:pt>
                <c:pt idx="3">
                  <c:v>10.1</c:v>
                </c:pt>
                <c:pt idx="4">
                  <c:v>8.6</c:v>
                </c:pt>
                <c:pt idx="5">
                  <c:v>7.4</c:v>
                </c:pt>
                <c:pt idx="6">
                  <c:v>6.2</c:v>
                </c:pt>
                <c:pt idx="7">
                  <c:v>5.8</c:v>
                </c:pt>
                <c:pt idx="8">
                  <c:v>4.9</c:v>
                </c:pt>
                <c:pt idx="9">
                  <c:v>3.6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8B9DC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52A5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chart" Target="/ppt/charts/chart8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4" Type="http://schemas.openxmlformats.org/officeDocument/2006/relationships/chart" Target="/ppt/charts/chart12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-1097280"/>
            <a:ext cx="4114800" cy="4114800"/>
          </a:xfrm>
          <a:prstGeom prst="ellipse">
            <a:avLst/>
          </a:prstGeom>
          <a:solidFill>
            <a:srgbClr val="0D2B6E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4114800"/>
            <a:ext cx="2743200" cy="2743200"/>
          </a:xfrm>
          <a:prstGeom prst="ellipse">
            <a:avLst/>
          </a:prstGeom>
          <a:solidFill>
            <a:srgbClr val="0D2B6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57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B584"/>
                </a:solidFill>
              </a:rPr>
              <a:t>BLUESTOCK FINTECH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Capstone Project · Individual · 7 Days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463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Mutual Fund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4320" y="2148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B584"/>
                </a:solidFill>
              </a:rPr>
              <a:t>Analytics Platform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74320" y="2971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8"/>
                </a:solidFill>
              </a:rPr>
              <a:t>End-to-end data pipeline · ETL · Star Schema · Power BI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840480"/>
            <a:ext cx="960120" cy="822960"/>
          </a:xfrm>
          <a:prstGeom prst="rect">
            <a:avLst/>
          </a:prstGeom>
          <a:solidFill>
            <a:srgbClr val="0D2B6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38862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B584"/>
                </a:solidFill>
              </a:rPr>
              <a:t>46,000+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2976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NAV Records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71600" y="3840480"/>
            <a:ext cx="960120" cy="822960"/>
          </a:xfrm>
          <a:prstGeom prst="rect">
            <a:avLst/>
          </a:prstGeom>
          <a:solidFill>
            <a:srgbClr val="0D2B6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38862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B584"/>
                </a:solidFill>
              </a:rPr>
              <a:t>40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2976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AMFI Schemes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68880" y="3840480"/>
            <a:ext cx="960120" cy="822960"/>
          </a:xfrm>
          <a:prstGeom prst="rect">
            <a:avLst/>
          </a:prstGeom>
          <a:solidFill>
            <a:srgbClr val="0D2B6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68880" y="38862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B584"/>
                </a:solidFill>
              </a:rPr>
              <a:t>₹31,002 Cr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42976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Dec 2025 SIP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66160" y="3840480"/>
            <a:ext cx="960120" cy="822960"/>
          </a:xfrm>
          <a:prstGeom prst="rect">
            <a:avLst/>
          </a:prstGeom>
          <a:solidFill>
            <a:srgbClr val="0D2B6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66160" y="38862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B584"/>
                </a:solidFill>
              </a:rPr>
              <a:t>5,000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42976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Investors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0352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DC3"/>
                </a:solidFill>
              </a:rPr>
              <a:t>Tech Stack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03520" y="1600200"/>
            <a:ext cx="6400800" cy="530352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0" y="1600200"/>
            <a:ext cx="54864" cy="530352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64592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3.10+  ·  Pandas  ·  NumPy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2258568"/>
            <a:ext cx="6400800" cy="530352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0" y="2258568"/>
            <a:ext cx="54864" cy="530352"/>
          </a:xfrm>
          <a:prstGeom prst="rect">
            <a:avLst/>
          </a:prstGeom>
          <a:solidFill>
            <a:srgbClr val="1A73C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230428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SQLite  ·  SQLAlchemy  ·  Star Schema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2916936"/>
            <a:ext cx="6400800" cy="530352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03520" y="2916936"/>
            <a:ext cx="54864" cy="530352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296265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Matplotlib  ·  Seaborn  ·  Plotly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3575304"/>
            <a:ext cx="6400800" cy="530352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03520" y="3575304"/>
            <a:ext cx="54864" cy="530352"/>
          </a:xfrm>
          <a:prstGeom prst="rect">
            <a:avLst/>
          </a:prstGeom>
          <a:solidFill>
            <a:srgbClr val="1A73C8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362102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Power BI Desktop  ·  Git  ·  GitHub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03520" y="4233672"/>
            <a:ext cx="6400800" cy="530352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03520" y="4233672"/>
            <a:ext cx="54864" cy="530352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4279392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mfapi.in REST API  ·  AMFI India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03520" y="50292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DC3"/>
                </a:solidFill>
              </a:rPr>
              <a:t>AMCs: SBI · HDFC · ICICI · Nippon · Kotak · Axis · ABSL · UTI · Mirae · DSP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80160" cy="6784848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" y="137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B584"/>
                </a:solidFill>
              </a:rPr>
              <a:t>MF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" y="438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C3"/>
                </a:solidFill>
              </a:rPr>
              <a:t>Bluestock Fintech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1280160" cy="1005840"/>
          </a:xfrm>
          <a:prstGeom prst="rect">
            <a:avLst/>
          </a:prstGeom>
          <a:solidFill>
            <a:srgbClr val="0D2B6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91440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584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Market Overview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210312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Fund Performance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329184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Investor Demographics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" y="4800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Portfolio Holdings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280160" y="73152"/>
            <a:ext cx="10881360" cy="658368"/>
          </a:xfrm>
          <a:prstGeom prst="rect">
            <a:avLst/>
          </a:prstGeom>
          <a:solidFill>
            <a:srgbClr val="0D2B6E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914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Market Overview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754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AMFI India · mfapi.in · 40 schemes · 46,000+ NAV records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solidFill>
            <a:srgbClr val="0E8C6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Jan 2022 – May 2026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1732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41732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26" name="Text 24"/>
          <p:cNvSpPr/>
          <p:nvPr/>
        </p:nvSpPr>
        <p:spPr>
          <a:xfrm>
            <a:off x="152704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Industry AUM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2704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₹68.4L Cr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2704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+41% growth 2023–2025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0624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0624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1" name="Text 29"/>
          <p:cNvSpPr/>
          <p:nvPr/>
        </p:nvSpPr>
        <p:spPr>
          <a:xfrm>
            <a:off x="431596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SBI MF AUM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1596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₹12.5L Cr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31596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Largest AMC by AUM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9516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9516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6" name="Text 34"/>
          <p:cNvSpPr/>
          <p:nvPr/>
        </p:nvSpPr>
        <p:spPr>
          <a:xfrm>
            <a:off x="710488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Total Folios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0488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26.12 Cr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10488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from 13.26 Cr (Jan 2022)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78408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78408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41" name="Text 39"/>
          <p:cNvSpPr/>
          <p:nvPr/>
        </p:nvSpPr>
        <p:spPr>
          <a:xfrm>
            <a:off x="989380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Dec 2025 SIP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89380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₹31,002 Cr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89380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Record monthly inflow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417320" y="1965960"/>
            <a:ext cx="10607040" cy="475488"/>
          </a:xfrm>
          <a:prstGeom prst="rect">
            <a:avLst/>
          </a:prstGeom>
          <a:solidFill>
            <a:srgbClr val="0D3D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417320" y="1965960"/>
            <a:ext cx="73152" cy="475488"/>
          </a:xfrm>
          <a:prstGeom prst="rect">
            <a:avLst/>
          </a:prstGeom>
          <a:solidFill>
            <a:srgbClr val="1DB584"/>
          </a:solidFill>
          <a:ln/>
        </p:spPr>
      </p:sp>
      <p:sp>
        <p:nvSpPr>
          <p:cNvPr id="46" name="Text 44"/>
          <p:cNvSpPr/>
          <p:nvPr/>
        </p:nvSpPr>
        <p:spPr>
          <a:xfrm>
            <a:off x="1572768" y="198424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FFD4"/>
                </a:solidFill>
              </a:rPr>
              <a:t>🏆  SIP Milestone: ₹31,002 Cr achieved in December 2025  ·  Active SIP accounts crossed 10.2 Cr  ·  Folio count: 26.12 Cr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417320" y="2560320"/>
            <a:ext cx="5120640" cy="228600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581912" y="26700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AUM by AMC — ₹ Lakh Crore (Dec 2024)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581912" y="2926080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50" name="Chart 0" descr=""/>
          <p:cNvGraphicFramePr/>
          <p:nvPr/>
        </p:nvGraphicFramePr>
        <p:xfrm>
          <a:off x="1508760" y="2971800"/>
          <a:ext cx="49377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1" name="Shape 48"/>
          <p:cNvSpPr/>
          <p:nvPr/>
        </p:nvSpPr>
        <p:spPr>
          <a:xfrm>
            <a:off x="6720840" y="2560320"/>
            <a:ext cx="5303520" cy="228600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6885432" y="2670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 Net Inflows FY 2024–25 (₹ Crore)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6885432" y="2926080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54" name="Chart 1" descr=""/>
          <p:cNvGraphicFramePr/>
          <p:nvPr/>
        </p:nvGraphicFramePr>
        <p:xfrm>
          <a:off x="6812280" y="2971800"/>
          <a:ext cx="51206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5" name="Shape 51"/>
          <p:cNvSpPr/>
          <p:nvPr/>
        </p:nvSpPr>
        <p:spPr>
          <a:xfrm>
            <a:off x="1417320" y="4983480"/>
            <a:ext cx="5120640" cy="169164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Text 52"/>
          <p:cNvSpPr/>
          <p:nvPr/>
        </p:nvSpPr>
        <p:spPr>
          <a:xfrm>
            <a:off x="1581912" y="50932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Monthly SIP Inflows (₹ Crore) — Jan 2022 to Dec 2025</a:t>
            </a:r>
            <a:endParaRPr lang="en-US" sz="1000" dirty="0"/>
          </a:p>
        </p:txBody>
      </p:sp>
      <p:sp>
        <p:nvSpPr>
          <p:cNvPr id="57" name="Shape 53"/>
          <p:cNvSpPr/>
          <p:nvPr/>
        </p:nvSpPr>
        <p:spPr>
          <a:xfrm>
            <a:off x="1581912" y="5349240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58" name="Chart 2" descr=""/>
          <p:cNvGraphicFramePr/>
          <p:nvPr/>
        </p:nvGraphicFramePr>
        <p:xfrm>
          <a:off x="1508760" y="5394960"/>
          <a:ext cx="493776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9" name="Shape 54"/>
          <p:cNvSpPr/>
          <p:nvPr/>
        </p:nvSpPr>
        <p:spPr>
          <a:xfrm>
            <a:off x="6720840" y="4983480"/>
            <a:ext cx="5303520" cy="169164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Text 55"/>
          <p:cNvSpPr/>
          <p:nvPr/>
        </p:nvSpPr>
        <p:spPr>
          <a:xfrm>
            <a:off x="6885432" y="5093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Folio Count Growth (Crore) — 2022 Q1 to 2025 Q4</a:t>
            </a:r>
            <a:endParaRPr lang="en-US" sz="1000" dirty="0"/>
          </a:p>
        </p:txBody>
      </p:sp>
      <p:sp>
        <p:nvSpPr>
          <p:cNvPr id="61" name="Shape 56"/>
          <p:cNvSpPr/>
          <p:nvPr/>
        </p:nvSpPr>
        <p:spPr>
          <a:xfrm>
            <a:off x="6885432" y="5349240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62" name="Chart 3" descr=""/>
          <p:cNvGraphicFramePr/>
          <p:nvPr/>
        </p:nvGraphicFramePr>
        <p:xfrm>
          <a:off x="6812280" y="5394960"/>
          <a:ext cx="512064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80160" cy="6784848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" y="137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B584"/>
                </a:solidFill>
              </a:rPr>
              <a:t>MF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" y="438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C3"/>
                </a:solidFill>
              </a:rPr>
              <a:t>Bluestock Fintech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Market Overview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2103120"/>
            <a:ext cx="1280160" cy="1005840"/>
          </a:xfrm>
          <a:prstGeom prst="rect">
            <a:avLst/>
          </a:prstGeom>
          <a:solidFill>
            <a:srgbClr val="0D2B6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10312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584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Fund Performance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329184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Investor Demographics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" y="4800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Portfolio Holdings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280160" y="73152"/>
            <a:ext cx="10881360" cy="658368"/>
          </a:xfrm>
          <a:prstGeom prst="rect">
            <a:avLst/>
          </a:prstGeom>
          <a:solidFill>
            <a:srgbClr val="0D2B6E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914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Fund Performance &amp; Risk Analytics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754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AMFI India · mfapi.in · 40 schemes · 46,000+ NAV records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solidFill>
            <a:srgbClr val="0E8C6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Jan 2022 – May 2026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1732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41732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26" name="Text 24"/>
          <p:cNvSpPr/>
          <p:nvPr/>
        </p:nvSpPr>
        <p:spPr>
          <a:xfrm>
            <a:off x="152704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Best Sharpe Ratio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2704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1.42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2704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Nippon Small Cap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0624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0624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1" name="Text 29"/>
          <p:cNvSpPr/>
          <p:nvPr/>
        </p:nvSpPr>
        <p:spPr>
          <a:xfrm>
            <a:off x="431596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Best 3Y Alpha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1596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+6.2%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31596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vs Nifty 50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9516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9516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6" name="Text 34"/>
          <p:cNvSpPr/>
          <p:nvPr/>
        </p:nvSpPr>
        <p:spPr>
          <a:xfrm>
            <a:off x="710488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Min Max Drawdown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0488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-11.8%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10488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UTI Nifty 50 Index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78408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78408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41" name="Text 39"/>
          <p:cNvSpPr/>
          <p:nvPr/>
        </p:nvSpPr>
        <p:spPr>
          <a:xfrm>
            <a:off x="989380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Mid Cap 3Y Alpha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89380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+3.2%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89380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vs Large Cap avg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417320" y="1965960"/>
            <a:ext cx="5120640" cy="246888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81912" y="20756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Sharpe Ratio vs Sortino Ratio — Risk-Adjusted Returns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581912" y="2331720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47" name="Chart 0" descr=""/>
          <p:cNvGraphicFramePr/>
          <p:nvPr/>
        </p:nvGraphicFramePr>
        <p:xfrm>
          <a:off x="1508760" y="2377440"/>
          <a:ext cx="49377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Shape 45"/>
          <p:cNvSpPr/>
          <p:nvPr/>
        </p:nvSpPr>
        <p:spPr>
          <a:xfrm>
            <a:off x="6720840" y="1965960"/>
            <a:ext cx="5303520" cy="246888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6885432" y="2075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 Drawdown (%) — Lower is Safer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6885432" y="2331720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51" name="Chart 1" descr=""/>
          <p:cNvGraphicFramePr/>
          <p:nvPr/>
        </p:nvGraphicFramePr>
        <p:xfrm>
          <a:off x="6812280" y="2377440"/>
          <a:ext cx="51206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2" name="Shape 48"/>
          <p:cNvSpPr/>
          <p:nvPr/>
        </p:nvSpPr>
        <p:spPr>
          <a:xfrm>
            <a:off x="1417320" y="4553712"/>
            <a:ext cx="5120640" cy="2121408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49"/>
          <p:cNvSpPr/>
          <p:nvPr/>
        </p:nvSpPr>
        <p:spPr>
          <a:xfrm>
            <a:off x="1581912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3-Year Rolling Returns vs Benchmark Indices (%)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1581912" y="4919472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55" name="Chart 2" descr=""/>
          <p:cNvGraphicFramePr/>
          <p:nvPr/>
        </p:nvGraphicFramePr>
        <p:xfrm>
          <a:off x="1508760" y="4965192"/>
          <a:ext cx="4937760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6" name="Shape 51"/>
          <p:cNvSpPr/>
          <p:nvPr/>
        </p:nvSpPr>
        <p:spPr>
          <a:xfrm>
            <a:off x="6720840" y="4553712"/>
            <a:ext cx="5303520" cy="2121408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Text 52"/>
          <p:cNvSpPr/>
          <p:nvPr/>
        </p:nvSpPr>
        <p:spPr>
          <a:xfrm>
            <a:off x="6885432" y="4663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Fund Alpha Ranking vs Nifty 50 (3Y)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6885432" y="4919472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59" name="Chart 3" descr=""/>
          <p:cNvGraphicFramePr/>
          <p:nvPr/>
        </p:nvGraphicFramePr>
        <p:xfrm>
          <a:off x="6812280" y="4965192"/>
          <a:ext cx="5120640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80160" cy="6784848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" y="137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B584"/>
                </a:solidFill>
              </a:rPr>
              <a:t>MF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" y="438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C3"/>
                </a:solidFill>
              </a:rPr>
              <a:t>Bluestock Fintech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Market Overview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210312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Fund Performance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0" y="3291840"/>
            <a:ext cx="1280160" cy="1005840"/>
          </a:xfrm>
          <a:prstGeom prst="rect">
            <a:avLst/>
          </a:prstGeom>
          <a:solidFill>
            <a:srgbClr val="0D2B6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329184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584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Investor Demographics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" y="4800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Portfolio Holdings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280160" y="73152"/>
            <a:ext cx="10881360" cy="658368"/>
          </a:xfrm>
          <a:prstGeom prst="rect">
            <a:avLst/>
          </a:prstGeom>
          <a:solidFill>
            <a:srgbClr val="0D2B6E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914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Investor Demographics &amp; Transaction Patterns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754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AMFI India · mfapi.in · 40 schemes · 46,000+ NAV records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solidFill>
            <a:srgbClr val="0E8C6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Jan 2022 – May 2026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1732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41732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26" name="Text 24"/>
          <p:cNvSpPr/>
          <p:nvPr/>
        </p:nvSpPr>
        <p:spPr>
          <a:xfrm>
            <a:off x="152704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Total Investors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2704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5,000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2704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Across 12 Indian states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0624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0624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1" name="Text 29"/>
          <p:cNvSpPr/>
          <p:nvPr/>
        </p:nvSpPr>
        <p:spPr>
          <a:xfrm>
            <a:off x="431596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Under 30 Years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1596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31%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31596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Fastest growing segment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9516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9516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6" name="Text 34"/>
          <p:cNvSpPr/>
          <p:nvPr/>
        </p:nvSpPr>
        <p:spPr>
          <a:xfrm>
            <a:off x="710488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SIP Dominance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0488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68%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10488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of all transaction types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784080" y="822960"/>
            <a:ext cx="2651760" cy="1005840"/>
          </a:xfrm>
          <a:prstGeom prst="rect">
            <a:avLst/>
          </a:prstGeom>
          <a:solidFill>
            <a:srgbClr val="152A5C"/>
          </a:solidFill>
          <a:ln w="12700">
            <a:solidFill>
              <a:srgbClr val="1022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784080" y="8229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41" name="Text 39"/>
          <p:cNvSpPr/>
          <p:nvPr/>
        </p:nvSpPr>
        <p:spPr>
          <a:xfrm>
            <a:off x="9893808" y="8961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Tier-2 Growth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893808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+19%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893808" y="1517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B584"/>
                </a:solidFill>
              </a:rPr>
              <a:t>YoY — growing 2.5x faster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417320" y="1965960"/>
            <a:ext cx="5120640" cy="219456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81912" y="20756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Investor Age Band Distribution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581912" y="2331720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47" name="Chart 0" descr=""/>
          <p:cNvGraphicFramePr/>
          <p:nvPr/>
        </p:nvGraphicFramePr>
        <p:xfrm>
          <a:off x="1508760" y="2359152"/>
          <a:ext cx="4937760" cy="1719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Shape 45"/>
          <p:cNvSpPr/>
          <p:nvPr/>
        </p:nvSpPr>
        <p:spPr>
          <a:xfrm>
            <a:off x="6720840" y="1965960"/>
            <a:ext cx="5303520" cy="219456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6885432" y="2075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Transaction Type Mix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6885432" y="2331720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51" name="Chart 1" descr=""/>
          <p:cNvGraphicFramePr/>
          <p:nvPr/>
        </p:nvGraphicFramePr>
        <p:xfrm>
          <a:off x="6812280" y="2331720"/>
          <a:ext cx="5120640" cy="1755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2" name="Shape 48"/>
          <p:cNvSpPr/>
          <p:nvPr/>
        </p:nvSpPr>
        <p:spPr>
          <a:xfrm>
            <a:off x="1417320" y="4279392"/>
            <a:ext cx="5120640" cy="242316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49"/>
          <p:cNvSpPr/>
          <p:nvPr/>
        </p:nvSpPr>
        <p:spPr>
          <a:xfrm>
            <a:off x="1581912" y="4389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City Tier — Transaction Share (%)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1581912" y="4645152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55" name="Chart 2" descr=""/>
          <p:cNvGraphicFramePr/>
          <p:nvPr/>
        </p:nvGraphicFramePr>
        <p:xfrm>
          <a:off x="1508760" y="4681728"/>
          <a:ext cx="4937760" cy="19019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6" name="Shape 51"/>
          <p:cNvSpPr/>
          <p:nvPr/>
        </p:nvSpPr>
        <p:spPr>
          <a:xfrm>
            <a:off x="6720840" y="4279392"/>
            <a:ext cx="5303520" cy="242316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Text 52"/>
          <p:cNvSpPr/>
          <p:nvPr/>
        </p:nvSpPr>
        <p:spPr>
          <a:xfrm>
            <a:off x="6885432" y="4389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Income Bracket vs Risk Appetite (%)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6885432" y="4645152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59" name="Chart 3" descr=""/>
          <p:cNvGraphicFramePr/>
          <p:nvPr/>
        </p:nvGraphicFramePr>
        <p:xfrm>
          <a:off x="6812280" y="4681728"/>
          <a:ext cx="5120640" cy="19019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80160" cy="6784848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" y="137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B584"/>
                </a:solidFill>
              </a:rPr>
              <a:t>MF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" y="438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C3"/>
                </a:solidFill>
              </a:rPr>
              <a:t>Bluestock Fintech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Market Overview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210312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Fund Performance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0" y="329184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Investor Demographics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0" y="4480560"/>
            <a:ext cx="1280160" cy="1005840"/>
          </a:xfrm>
          <a:prstGeom prst="rect">
            <a:avLst/>
          </a:prstGeom>
          <a:solidFill>
            <a:srgbClr val="0D2B6E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448056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584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" y="4800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Portfolio Holdings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280160" y="73152"/>
            <a:ext cx="10881360" cy="658368"/>
          </a:xfrm>
          <a:prstGeom prst="rect">
            <a:avLst/>
          </a:prstGeom>
          <a:solidFill>
            <a:srgbClr val="0D2B6E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914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Portfolio Holdings &amp; Sector Exposure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754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AMFI India · mfapi.in · 40 schemes · 46,000+ NAV records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solidFill>
            <a:srgbClr val="0E8C6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Jan 2022 – May 2026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17320" y="804672"/>
            <a:ext cx="6949440" cy="306324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81912" y="91440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10 Stock Holdings — Cross-Fund Weight (%)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81912" y="1170432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27" name="Chart 0" descr=""/>
          <p:cNvGraphicFramePr/>
          <p:nvPr/>
        </p:nvGraphicFramePr>
        <p:xfrm>
          <a:off x="1508760" y="1207008"/>
          <a:ext cx="67665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8549640" y="804672"/>
            <a:ext cx="3520440" cy="306324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714232" y="9144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Sector Exposure — Top 5 Equity Funds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714232" y="1170432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31" name="Chart 1" descr=""/>
          <p:cNvGraphicFramePr/>
          <p:nvPr/>
        </p:nvGraphicFramePr>
        <p:xfrm>
          <a:off x="8613648" y="1207008"/>
          <a:ext cx="3401568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Shape 28"/>
          <p:cNvSpPr/>
          <p:nvPr/>
        </p:nvSpPr>
        <p:spPr>
          <a:xfrm>
            <a:off x="1417320" y="3977640"/>
            <a:ext cx="10652760" cy="2724912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1581912" y="4087368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Fund Performance Matrix — Key Metrics (All Schemes)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1581912" y="4343400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8760" y="4343400"/>
          <a:ext cx="10469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914400"/>
                <a:gridCol w="914400"/>
                <a:gridCol w="914400"/>
                <a:gridCol w="822960"/>
                <a:gridCol w="822960"/>
                <a:gridCol w="777240"/>
                <a:gridCol w="868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Scheme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1Y CAGR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3Y CAGR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5Y CAGR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Alpha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Beta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Max DD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6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Nippon Small Cap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Small Cap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38.2%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31.4%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26.8%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1.42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+6.2%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0.91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-18.4%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Kotak Small Cap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Small Cap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35.4%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29.1%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24.3%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1.38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+5.8%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0.94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-19.6%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HDFC Mid Cap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Mid Cap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32.1%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27.3%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22.6%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1.35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+5.1%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0.89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-16.8%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ICICI Pru Mid Cap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Mid Cap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29.7%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25.4%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20.8%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1.31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+4.6%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0.88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-17.2%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Mirae Asset Large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Large Cap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22.4%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18.6%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1.28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+3.8%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0.86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-14.1%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SBI Blue Chip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Large Cap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18.6%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15.8%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1.19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+2.4%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0.82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-12.9%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Axis ELSS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ELSS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19.8%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13.8%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1.12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+2.9%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0.84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-15.2%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UTI Nifty 50 Index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Large Cap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16.2%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14.1%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12.4%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1.04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+0.2%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-11.8%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2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80160" cy="6784848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" y="137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B584"/>
                </a:solidFill>
              </a:rPr>
              <a:t>MF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" y="438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C3"/>
                </a:solidFill>
              </a:rPr>
              <a:t>Bluestock Fintech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1280160" cy="1005840"/>
          </a:xfrm>
          <a:prstGeom prst="rect">
            <a:avLst/>
          </a:prstGeom>
          <a:solidFill>
            <a:srgbClr val="0D2B6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914400"/>
            <a:ext cx="54864" cy="100584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B584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Market Overview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210312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Fund Performance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329184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Investor Demographics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4480560"/>
            <a:ext cx="54864" cy="1005840"/>
          </a:xfrm>
          <a:prstGeom prst="rect">
            <a:avLst/>
          </a:prstGeom>
          <a:solidFill>
            <a:srgbClr val="10224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DC3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" y="4800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</a:rPr>
              <a:t>Portfolio Holdings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280160" y="73152"/>
            <a:ext cx="10881360" cy="658368"/>
          </a:xfrm>
          <a:prstGeom prst="rect">
            <a:avLst/>
          </a:prstGeom>
          <a:solidFill>
            <a:srgbClr val="0D2B6E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914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Architecture — Star Schema &amp; ETL Pipeline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754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AMFI India · mfapi.in · 40 schemes · 46,000+ NAV records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solidFill>
            <a:srgbClr val="0E8C6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Jan 2022 – May 2026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17320" y="822960"/>
            <a:ext cx="3474720" cy="580644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81912" y="932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ETL Pipeline — Python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81912" y="1188720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27" name="Shape 25"/>
          <p:cNvSpPr/>
          <p:nvPr/>
        </p:nvSpPr>
        <p:spPr>
          <a:xfrm>
            <a:off x="1554480" y="1417320"/>
            <a:ext cx="3200400" cy="868680"/>
          </a:xfrm>
          <a:prstGeom prst="rect">
            <a:avLst/>
          </a:prstGeom>
          <a:solidFill>
            <a:srgbClr val="0D2B6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554480" y="1417320"/>
            <a:ext cx="54864" cy="86868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29" name="Text 27"/>
          <p:cNvSpPr/>
          <p:nvPr/>
        </p:nvSpPr>
        <p:spPr>
          <a:xfrm>
            <a:off x="1691640" y="1472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584"/>
                </a:solidFill>
              </a:rPr>
              <a:t>01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21408" y="14721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21408" y="17647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mfapi.in REST API + AMFI CSVs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63240" y="2286000"/>
            <a:ext cx="54864" cy="13716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3" name="Shape 31"/>
          <p:cNvSpPr/>
          <p:nvPr/>
        </p:nvSpPr>
        <p:spPr>
          <a:xfrm>
            <a:off x="1554480" y="2423160"/>
            <a:ext cx="3200400" cy="868680"/>
          </a:xfrm>
          <a:prstGeom prst="rect">
            <a:avLst/>
          </a:prstGeom>
          <a:solidFill>
            <a:srgbClr val="1022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554480" y="2423160"/>
            <a:ext cx="54864" cy="86868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5" name="Text 33"/>
          <p:cNvSpPr/>
          <p:nvPr/>
        </p:nvSpPr>
        <p:spPr>
          <a:xfrm>
            <a:off x="1691640" y="24780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584"/>
                </a:solidFill>
              </a:rPr>
              <a:t>02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121408" y="2478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Transform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21408" y="2770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Pandas cleaning, type casting, NAV fill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063240" y="3291840"/>
            <a:ext cx="54864" cy="13716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39" name="Shape 37"/>
          <p:cNvSpPr/>
          <p:nvPr/>
        </p:nvSpPr>
        <p:spPr>
          <a:xfrm>
            <a:off x="1554480" y="3429000"/>
            <a:ext cx="3200400" cy="868680"/>
          </a:xfrm>
          <a:prstGeom prst="rect">
            <a:avLst/>
          </a:prstGeom>
          <a:solidFill>
            <a:srgbClr val="0D2B6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554480" y="3429000"/>
            <a:ext cx="54864" cy="86868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41" name="Text 39"/>
          <p:cNvSpPr/>
          <p:nvPr/>
        </p:nvSpPr>
        <p:spPr>
          <a:xfrm>
            <a:off x="1691640" y="34838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584"/>
                </a:solidFill>
              </a:rPr>
              <a:t>03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121408" y="3483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21408" y="3776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SQLite via SQLAlchemy ORM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063240" y="4297680"/>
            <a:ext cx="54864" cy="13716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45" name="Shape 43"/>
          <p:cNvSpPr/>
          <p:nvPr/>
        </p:nvSpPr>
        <p:spPr>
          <a:xfrm>
            <a:off x="1554480" y="4434840"/>
            <a:ext cx="3200400" cy="868680"/>
          </a:xfrm>
          <a:prstGeom prst="rect">
            <a:avLst/>
          </a:prstGeom>
          <a:solidFill>
            <a:srgbClr val="1022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554480" y="4434840"/>
            <a:ext cx="54864" cy="86868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47" name="Text 45"/>
          <p:cNvSpPr/>
          <p:nvPr/>
        </p:nvSpPr>
        <p:spPr>
          <a:xfrm>
            <a:off x="1691640" y="4489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584"/>
                </a:solidFill>
              </a:rPr>
              <a:t>04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2121408" y="4489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Schedule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21408" y="4782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etl_pipeline.py — automated run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063240" y="5303520"/>
            <a:ext cx="54864" cy="13716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51" name="Shape 49"/>
          <p:cNvSpPr/>
          <p:nvPr/>
        </p:nvSpPr>
        <p:spPr>
          <a:xfrm>
            <a:off x="1554480" y="5440680"/>
            <a:ext cx="3200400" cy="868680"/>
          </a:xfrm>
          <a:prstGeom prst="rect">
            <a:avLst/>
          </a:prstGeom>
          <a:solidFill>
            <a:srgbClr val="0D2B6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554480" y="5440680"/>
            <a:ext cx="54864" cy="868680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53" name="Text 51"/>
          <p:cNvSpPr/>
          <p:nvPr/>
        </p:nvSpPr>
        <p:spPr>
          <a:xfrm>
            <a:off x="1691640" y="54955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584"/>
                </a:solidFill>
              </a:rPr>
              <a:t>05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2121408" y="5495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121408" y="57881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Data quality checks, row counts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074920" y="822960"/>
            <a:ext cx="6949440" cy="5806440"/>
          </a:xfrm>
          <a:prstGeom prst="rect">
            <a:avLst/>
          </a:prstGeom>
          <a:solidFill>
            <a:srgbClr val="152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239512" y="93268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Normalised Star Schema — 5 Tables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39512" y="1188720"/>
            <a:ext cx="274320" cy="36576"/>
          </a:xfrm>
          <a:prstGeom prst="rect">
            <a:avLst/>
          </a:prstGeom>
          <a:solidFill>
            <a:srgbClr val="0E8C6A"/>
          </a:solidFill>
          <a:ln/>
        </p:spPr>
      </p:sp>
      <p:sp>
        <p:nvSpPr>
          <p:cNvPr id="59" name="Shape 57"/>
          <p:cNvSpPr/>
          <p:nvPr/>
        </p:nvSpPr>
        <p:spPr>
          <a:xfrm>
            <a:off x="7178040" y="2468880"/>
            <a:ext cx="1645920" cy="822960"/>
          </a:xfrm>
          <a:prstGeom prst="rect">
            <a:avLst/>
          </a:prstGeom>
          <a:solidFill>
            <a:srgbClr val="0E8C6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17804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fact_nav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17804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0F0D8"/>
                </a:solidFill>
              </a:rPr>
              <a:t>nav_id · scheme_code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0F0D8"/>
                </a:solidFill>
              </a:rPr>
              <a:t>nav_date · nav_value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577840" y="1097280"/>
            <a:ext cx="1920240" cy="822960"/>
          </a:xfrm>
          <a:prstGeom prst="rect">
            <a:avLst/>
          </a:prstGeom>
          <a:solidFill>
            <a:srgbClr val="0D2B6E"/>
          </a:solidFill>
          <a:ln w="10160">
            <a:solidFill>
              <a:srgbClr val="0E8C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57784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B584"/>
                </a:solidFill>
              </a:rPr>
              <a:t>dim_fund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577840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8"/>
                </a:solidFill>
              </a:rPr>
              <a:t>scheme_code · name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8"/>
                </a:solidFill>
              </a:rPr>
              <a:t>AMC · category · risk_grade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537960" y="1508760"/>
            <a:ext cx="1472184" cy="1380744"/>
          </a:xfrm>
          <a:prstGeom prst="line">
            <a:avLst/>
          </a:prstGeom>
          <a:noFill/>
          <a:ln w="7620">
            <a:solidFill>
              <a:srgbClr val="0E8C6A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10241280" y="1097280"/>
            <a:ext cx="1920240" cy="822960"/>
          </a:xfrm>
          <a:prstGeom prst="rect">
            <a:avLst/>
          </a:prstGeom>
          <a:solidFill>
            <a:srgbClr val="0D3D6A"/>
          </a:solidFill>
          <a:ln w="10160">
            <a:solidFill>
              <a:srgbClr val="0E8C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024128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B584"/>
                </a:solidFill>
              </a:rPr>
              <a:t>fact_aum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0241280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8"/>
                </a:solidFill>
              </a:rPr>
              <a:t>aum_id · amc_name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8"/>
                </a:solidFill>
              </a:rPr>
              <a:t>quarter_date · aum_crores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001000" y="1508760"/>
            <a:ext cx="3209544" cy="1380744"/>
          </a:xfrm>
          <a:prstGeom prst="line">
            <a:avLst/>
          </a:prstGeom>
          <a:noFill/>
          <a:ln w="7620">
            <a:solidFill>
              <a:srgbClr val="0E8C6A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5486400" y="4389120"/>
            <a:ext cx="1920240" cy="822960"/>
          </a:xfrm>
          <a:prstGeom prst="rect">
            <a:avLst/>
          </a:prstGeom>
          <a:solidFill>
            <a:srgbClr val="0D3D6A"/>
          </a:solidFill>
          <a:ln w="10160">
            <a:solidFill>
              <a:srgbClr val="0E8C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5486400" y="4389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B584"/>
                </a:solidFill>
              </a:rPr>
              <a:t>fact_transactions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486400" y="4800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8"/>
                </a:solidFill>
              </a:rPr>
              <a:t>txn_id · investor_id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8"/>
                </a:solidFill>
              </a:rPr>
              <a:t>scheme_code · amount · type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446520" y="2880360"/>
            <a:ext cx="1563624" cy="1929384"/>
          </a:xfrm>
          <a:prstGeom prst="line">
            <a:avLst/>
          </a:prstGeom>
          <a:noFill/>
          <a:ln w="7620">
            <a:solidFill>
              <a:srgbClr val="0E8C6A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10241280" y="4389120"/>
            <a:ext cx="1920240" cy="822960"/>
          </a:xfrm>
          <a:prstGeom prst="rect">
            <a:avLst/>
          </a:prstGeom>
          <a:solidFill>
            <a:srgbClr val="0D2B6E"/>
          </a:solidFill>
          <a:ln w="10160">
            <a:solidFill>
              <a:srgbClr val="0E8C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0241280" y="4389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B584"/>
                </a:solidFill>
              </a:rPr>
              <a:t>fact_sip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0241280" y="4800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8"/>
                </a:solidFill>
              </a:rPr>
              <a:t>sip_id · month_year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8"/>
                </a:solidFill>
              </a:rPr>
              <a:t>sip_inflow_cr · active_accounts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8001000" y="2880360"/>
            <a:ext cx="3209544" cy="1929384"/>
          </a:xfrm>
          <a:prstGeom prst="line">
            <a:avLst/>
          </a:prstGeom>
          <a:noFill/>
          <a:ln w="7620">
            <a:solidFill>
              <a:srgbClr val="0E8C6A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7680960" y="1005840"/>
            <a:ext cx="1920240" cy="822960"/>
          </a:xfrm>
          <a:prstGeom prst="rect">
            <a:avLst/>
          </a:prstGeom>
          <a:solidFill>
            <a:srgbClr val="10224F"/>
          </a:solidFill>
          <a:ln w="10160">
            <a:solidFill>
              <a:srgbClr val="0E8C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768096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B584"/>
                </a:solidFill>
              </a:rPr>
              <a:t>dim_investor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7680960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8"/>
                </a:solidFill>
              </a:rPr>
              <a:t>investor_id · 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8"/>
                </a:solidFill>
              </a:rPr>
              <a:t>state · city_tier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8001000" y="1417320"/>
            <a:ext cx="649224" cy="1472184"/>
          </a:xfrm>
          <a:prstGeom prst="line">
            <a:avLst/>
          </a:prstGeom>
          <a:noFill/>
          <a:ln w="7620">
            <a:solidFill>
              <a:srgbClr val="0E8C6A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5166360" y="62636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DC3"/>
                </a:solidFill>
              </a:rPr>
              <a:t>Primary Key (PK) / Foreign Key (FK) relationships enable full JOIN across BI views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subject>PptxGenJS Presentation</dc:subject>
  <dc:creator>Bluestock Fintech</dc:creator>
  <cp:lastModifiedBy>Bluestock Fintech</cp:lastModifiedBy>
  <cp:revision>1</cp:revision>
  <dcterms:created xsi:type="dcterms:W3CDTF">2026-06-03T19:09:03Z</dcterms:created>
  <dcterms:modified xsi:type="dcterms:W3CDTF">2026-06-03T19:09:03Z</dcterms:modified>
</cp:coreProperties>
</file>